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1" r:id="rId14"/>
    <p:sldId id="270" r:id="rId15"/>
    <p:sldId id="268" r:id="rId16"/>
    <p:sldId id="269"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60"/>
  </p:normalViewPr>
  <p:slideViewPr>
    <p:cSldViewPr snapToGrid="0">
      <p:cViewPr varScale="1">
        <p:scale>
          <a:sx n="77" d="100"/>
          <a:sy n="77" d="100"/>
        </p:scale>
        <p:origin x="19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0143B-BDAD-9284-E7D4-C28BE4DF528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AE4F422-2FC2-D6CA-5864-E6B3757D24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D6A73DF-BF6A-0C34-346D-5EE0E327D9A5}"/>
              </a:ext>
            </a:extLst>
          </p:cNvPr>
          <p:cNvSpPr>
            <a:spLocks noGrp="1"/>
          </p:cNvSpPr>
          <p:nvPr>
            <p:ph type="dt" sz="half" idx="10"/>
          </p:nvPr>
        </p:nvSpPr>
        <p:spPr/>
        <p:txBody>
          <a:bodyPr/>
          <a:lstStyle/>
          <a:p>
            <a:fld id="{C6079EE1-6BFD-49BD-B3D8-703F9CFCDF5F}" type="datetimeFigureOut">
              <a:rPr lang="en-US" smtClean="0"/>
              <a:t>6/2/2026</a:t>
            </a:fld>
            <a:endParaRPr lang="en-US"/>
          </a:p>
        </p:txBody>
      </p:sp>
      <p:sp>
        <p:nvSpPr>
          <p:cNvPr id="5" name="Footer Placeholder 4">
            <a:extLst>
              <a:ext uri="{FF2B5EF4-FFF2-40B4-BE49-F238E27FC236}">
                <a16:creationId xmlns:a16="http://schemas.microsoft.com/office/drawing/2014/main" id="{9663F117-CB90-CEF4-17AB-E04F399486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849C05-B19E-B712-E36B-ED17B34F1204}"/>
              </a:ext>
            </a:extLst>
          </p:cNvPr>
          <p:cNvSpPr>
            <a:spLocks noGrp="1"/>
          </p:cNvSpPr>
          <p:nvPr>
            <p:ph type="sldNum" sz="quarter" idx="12"/>
          </p:nvPr>
        </p:nvSpPr>
        <p:spPr/>
        <p:txBody>
          <a:bodyPr/>
          <a:lstStyle/>
          <a:p>
            <a:fld id="{48E6EF77-D4E0-41DF-AF27-2DB2A41E0312}" type="slidenum">
              <a:rPr lang="en-US" smtClean="0"/>
              <a:t>‹#›</a:t>
            </a:fld>
            <a:endParaRPr lang="en-US"/>
          </a:p>
        </p:txBody>
      </p:sp>
    </p:spTree>
    <p:extLst>
      <p:ext uri="{BB962C8B-B14F-4D97-AF65-F5344CB8AC3E}">
        <p14:creationId xmlns:p14="http://schemas.microsoft.com/office/powerpoint/2010/main" val="17129932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A5273-5CAB-FC42-E3C5-3E8D28C776F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84CDAF3-DC26-26B5-DD11-FA5F1CADCB2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CD3955-66BE-7458-4507-05630E45D1FC}"/>
              </a:ext>
            </a:extLst>
          </p:cNvPr>
          <p:cNvSpPr>
            <a:spLocks noGrp="1"/>
          </p:cNvSpPr>
          <p:nvPr>
            <p:ph type="dt" sz="half" idx="10"/>
          </p:nvPr>
        </p:nvSpPr>
        <p:spPr/>
        <p:txBody>
          <a:bodyPr/>
          <a:lstStyle/>
          <a:p>
            <a:fld id="{C6079EE1-6BFD-49BD-B3D8-703F9CFCDF5F}" type="datetimeFigureOut">
              <a:rPr lang="en-US" smtClean="0"/>
              <a:t>6/2/2026</a:t>
            </a:fld>
            <a:endParaRPr lang="en-US"/>
          </a:p>
        </p:txBody>
      </p:sp>
      <p:sp>
        <p:nvSpPr>
          <p:cNvPr id="5" name="Footer Placeholder 4">
            <a:extLst>
              <a:ext uri="{FF2B5EF4-FFF2-40B4-BE49-F238E27FC236}">
                <a16:creationId xmlns:a16="http://schemas.microsoft.com/office/drawing/2014/main" id="{97DC97DE-2DBF-93A0-C131-7E2B90F167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541B77-8792-D50E-5E1D-2BD679704E74}"/>
              </a:ext>
            </a:extLst>
          </p:cNvPr>
          <p:cNvSpPr>
            <a:spLocks noGrp="1"/>
          </p:cNvSpPr>
          <p:nvPr>
            <p:ph type="sldNum" sz="quarter" idx="12"/>
          </p:nvPr>
        </p:nvSpPr>
        <p:spPr/>
        <p:txBody>
          <a:bodyPr/>
          <a:lstStyle/>
          <a:p>
            <a:fld id="{48E6EF77-D4E0-41DF-AF27-2DB2A41E0312}" type="slidenum">
              <a:rPr lang="en-US" smtClean="0"/>
              <a:t>‹#›</a:t>
            </a:fld>
            <a:endParaRPr lang="en-US"/>
          </a:p>
        </p:txBody>
      </p:sp>
    </p:spTree>
    <p:extLst>
      <p:ext uri="{BB962C8B-B14F-4D97-AF65-F5344CB8AC3E}">
        <p14:creationId xmlns:p14="http://schemas.microsoft.com/office/powerpoint/2010/main" val="22657134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D9977-66D8-8E01-8B6D-1F40394DC72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0A2864D-9897-1CD4-8696-30CE8EB611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4B0B330-E201-9EF9-73EC-D0CA01438993}"/>
              </a:ext>
            </a:extLst>
          </p:cNvPr>
          <p:cNvSpPr>
            <a:spLocks noGrp="1"/>
          </p:cNvSpPr>
          <p:nvPr>
            <p:ph type="dt" sz="half" idx="10"/>
          </p:nvPr>
        </p:nvSpPr>
        <p:spPr/>
        <p:txBody>
          <a:bodyPr/>
          <a:lstStyle/>
          <a:p>
            <a:fld id="{C6079EE1-6BFD-49BD-B3D8-703F9CFCDF5F}" type="datetimeFigureOut">
              <a:rPr lang="en-US" smtClean="0"/>
              <a:t>6/2/2026</a:t>
            </a:fld>
            <a:endParaRPr lang="en-US"/>
          </a:p>
        </p:txBody>
      </p:sp>
      <p:sp>
        <p:nvSpPr>
          <p:cNvPr id="5" name="Footer Placeholder 4">
            <a:extLst>
              <a:ext uri="{FF2B5EF4-FFF2-40B4-BE49-F238E27FC236}">
                <a16:creationId xmlns:a16="http://schemas.microsoft.com/office/drawing/2014/main" id="{0B8C5424-E0A9-E0A1-82F2-80707A894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E44689-4CEF-0570-7CB3-5C54B328CD0B}"/>
              </a:ext>
            </a:extLst>
          </p:cNvPr>
          <p:cNvSpPr>
            <a:spLocks noGrp="1"/>
          </p:cNvSpPr>
          <p:nvPr>
            <p:ph type="sldNum" sz="quarter" idx="12"/>
          </p:nvPr>
        </p:nvSpPr>
        <p:spPr/>
        <p:txBody>
          <a:bodyPr/>
          <a:lstStyle/>
          <a:p>
            <a:fld id="{48E6EF77-D4E0-41DF-AF27-2DB2A41E0312}" type="slidenum">
              <a:rPr lang="en-US" smtClean="0"/>
              <a:t>‹#›</a:t>
            </a:fld>
            <a:endParaRPr lang="en-US"/>
          </a:p>
        </p:txBody>
      </p:sp>
    </p:spTree>
    <p:extLst>
      <p:ext uri="{BB962C8B-B14F-4D97-AF65-F5344CB8AC3E}">
        <p14:creationId xmlns:p14="http://schemas.microsoft.com/office/powerpoint/2010/main" val="37854617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55C75-C948-59DA-E7DC-380C424F8E6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178DC89-EE11-9512-86CA-2183C95521C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E0972CA-D00F-DB88-43B2-B380B4D013C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0E3E533-FA0C-E267-FA54-C8E879C91F89}"/>
              </a:ext>
            </a:extLst>
          </p:cNvPr>
          <p:cNvSpPr>
            <a:spLocks noGrp="1"/>
          </p:cNvSpPr>
          <p:nvPr>
            <p:ph type="dt" sz="half" idx="10"/>
          </p:nvPr>
        </p:nvSpPr>
        <p:spPr/>
        <p:txBody>
          <a:bodyPr/>
          <a:lstStyle/>
          <a:p>
            <a:fld id="{C6079EE1-6BFD-49BD-B3D8-703F9CFCDF5F}" type="datetimeFigureOut">
              <a:rPr lang="en-US" smtClean="0"/>
              <a:t>6/2/2026</a:t>
            </a:fld>
            <a:endParaRPr lang="en-US"/>
          </a:p>
        </p:txBody>
      </p:sp>
      <p:sp>
        <p:nvSpPr>
          <p:cNvPr id="6" name="Footer Placeholder 5">
            <a:extLst>
              <a:ext uri="{FF2B5EF4-FFF2-40B4-BE49-F238E27FC236}">
                <a16:creationId xmlns:a16="http://schemas.microsoft.com/office/drawing/2014/main" id="{A56A192A-4953-94DB-B156-69B62172CC8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034C10-4D06-E2AB-AB25-CA0B8745AE90}"/>
              </a:ext>
            </a:extLst>
          </p:cNvPr>
          <p:cNvSpPr>
            <a:spLocks noGrp="1"/>
          </p:cNvSpPr>
          <p:nvPr>
            <p:ph type="sldNum" sz="quarter" idx="12"/>
          </p:nvPr>
        </p:nvSpPr>
        <p:spPr/>
        <p:txBody>
          <a:bodyPr/>
          <a:lstStyle/>
          <a:p>
            <a:fld id="{48E6EF77-D4E0-41DF-AF27-2DB2A41E0312}" type="slidenum">
              <a:rPr lang="en-US" smtClean="0"/>
              <a:t>‹#›</a:t>
            </a:fld>
            <a:endParaRPr lang="en-US"/>
          </a:p>
        </p:txBody>
      </p:sp>
    </p:spTree>
    <p:extLst>
      <p:ext uri="{BB962C8B-B14F-4D97-AF65-F5344CB8AC3E}">
        <p14:creationId xmlns:p14="http://schemas.microsoft.com/office/powerpoint/2010/main" val="733740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9924C-A9BE-606F-B29D-36387D6F58F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D3D8A48-D8A5-8EBB-D4EB-18DB2FA1105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B2F116C-EE94-A690-A982-0C3BF4B5825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95D77A1-80B6-21B6-1C9C-7A1578DC6F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F256F01-5AF9-887F-4975-215199EB51A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0B58F21-873B-1FCE-D46C-0E8EB55ECDC3}"/>
              </a:ext>
            </a:extLst>
          </p:cNvPr>
          <p:cNvSpPr>
            <a:spLocks noGrp="1"/>
          </p:cNvSpPr>
          <p:nvPr>
            <p:ph type="dt" sz="half" idx="10"/>
          </p:nvPr>
        </p:nvSpPr>
        <p:spPr/>
        <p:txBody>
          <a:bodyPr/>
          <a:lstStyle/>
          <a:p>
            <a:fld id="{C6079EE1-6BFD-49BD-B3D8-703F9CFCDF5F}" type="datetimeFigureOut">
              <a:rPr lang="en-US" smtClean="0"/>
              <a:t>6/2/2026</a:t>
            </a:fld>
            <a:endParaRPr lang="en-US"/>
          </a:p>
        </p:txBody>
      </p:sp>
      <p:sp>
        <p:nvSpPr>
          <p:cNvPr id="8" name="Footer Placeholder 7">
            <a:extLst>
              <a:ext uri="{FF2B5EF4-FFF2-40B4-BE49-F238E27FC236}">
                <a16:creationId xmlns:a16="http://schemas.microsoft.com/office/drawing/2014/main" id="{781FFEB1-82C6-41E8-D8FB-76D9949426E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19F2C9F-FAE8-5B10-F050-72E1D51BEA75}"/>
              </a:ext>
            </a:extLst>
          </p:cNvPr>
          <p:cNvSpPr>
            <a:spLocks noGrp="1"/>
          </p:cNvSpPr>
          <p:nvPr>
            <p:ph type="sldNum" sz="quarter" idx="12"/>
          </p:nvPr>
        </p:nvSpPr>
        <p:spPr/>
        <p:txBody>
          <a:bodyPr/>
          <a:lstStyle/>
          <a:p>
            <a:fld id="{48E6EF77-D4E0-41DF-AF27-2DB2A41E0312}" type="slidenum">
              <a:rPr lang="en-US" smtClean="0"/>
              <a:t>‹#›</a:t>
            </a:fld>
            <a:endParaRPr lang="en-US"/>
          </a:p>
        </p:txBody>
      </p:sp>
    </p:spTree>
    <p:extLst>
      <p:ext uri="{BB962C8B-B14F-4D97-AF65-F5344CB8AC3E}">
        <p14:creationId xmlns:p14="http://schemas.microsoft.com/office/powerpoint/2010/main" val="3812376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A0E67-EC11-A316-2201-0151C521BE7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A42AF87-F865-5C84-99C5-A085AEC12B8C}"/>
              </a:ext>
            </a:extLst>
          </p:cNvPr>
          <p:cNvSpPr>
            <a:spLocks noGrp="1"/>
          </p:cNvSpPr>
          <p:nvPr>
            <p:ph type="dt" sz="half" idx="10"/>
          </p:nvPr>
        </p:nvSpPr>
        <p:spPr/>
        <p:txBody>
          <a:bodyPr/>
          <a:lstStyle/>
          <a:p>
            <a:fld id="{C6079EE1-6BFD-49BD-B3D8-703F9CFCDF5F}" type="datetimeFigureOut">
              <a:rPr lang="en-US" smtClean="0"/>
              <a:t>6/2/2026</a:t>
            </a:fld>
            <a:endParaRPr lang="en-US"/>
          </a:p>
        </p:txBody>
      </p:sp>
      <p:sp>
        <p:nvSpPr>
          <p:cNvPr id="4" name="Footer Placeholder 3">
            <a:extLst>
              <a:ext uri="{FF2B5EF4-FFF2-40B4-BE49-F238E27FC236}">
                <a16:creationId xmlns:a16="http://schemas.microsoft.com/office/drawing/2014/main" id="{E2A4C223-FD61-0965-516D-E6F6AF6E75E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0DD9623-B45A-1917-70F8-D9DDC9751A5D}"/>
              </a:ext>
            </a:extLst>
          </p:cNvPr>
          <p:cNvSpPr>
            <a:spLocks noGrp="1"/>
          </p:cNvSpPr>
          <p:nvPr>
            <p:ph type="sldNum" sz="quarter" idx="12"/>
          </p:nvPr>
        </p:nvSpPr>
        <p:spPr/>
        <p:txBody>
          <a:bodyPr/>
          <a:lstStyle/>
          <a:p>
            <a:fld id="{48E6EF77-D4E0-41DF-AF27-2DB2A41E0312}" type="slidenum">
              <a:rPr lang="en-US" smtClean="0"/>
              <a:t>‹#›</a:t>
            </a:fld>
            <a:endParaRPr lang="en-US"/>
          </a:p>
        </p:txBody>
      </p:sp>
    </p:spTree>
    <p:extLst>
      <p:ext uri="{BB962C8B-B14F-4D97-AF65-F5344CB8AC3E}">
        <p14:creationId xmlns:p14="http://schemas.microsoft.com/office/powerpoint/2010/main" val="33732734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35F60FE-A94D-13A8-F612-E9E4AC852E50}"/>
              </a:ext>
            </a:extLst>
          </p:cNvPr>
          <p:cNvSpPr>
            <a:spLocks noGrp="1"/>
          </p:cNvSpPr>
          <p:nvPr>
            <p:ph type="dt" sz="half" idx="10"/>
          </p:nvPr>
        </p:nvSpPr>
        <p:spPr/>
        <p:txBody>
          <a:bodyPr/>
          <a:lstStyle/>
          <a:p>
            <a:fld id="{C6079EE1-6BFD-49BD-B3D8-703F9CFCDF5F}" type="datetimeFigureOut">
              <a:rPr lang="en-US" smtClean="0"/>
              <a:t>6/2/2026</a:t>
            </a:fld>
            <a:endParaRPr lang="en-US"/>
          </a:p>
        </p:txBody>
      </p:sp>
      <p:sp>
        <p:nvSpPr>
          <p:cNvPr id="3" name="Footer Placeholder 2">
            <a:extLst>
              <a:ext uri="{FF2B5EF4-FFF2-40B4-BE49-F238E27FC236}">
                <a16:creationId xmlns:a16="http://schemas.microsoft.com/office/drawing/2014/main" id="{11B101D5-0E74-6168-3477-D5AEA2BC2D5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9235F81-C9FB-A55D-0395-45AC2643D25B}"/>
              </a:ext>
            </a:extLst>
          </p:cNvPr>
          <p:cNvSpPr>
            <a:spLocks noGrp="1"/>
          </p:cNvSpPr>
          <p:nvPr>
            <p:ph type="sldNum" sz="quarter" idx="12"/>
          </p:nvPr>
        </p:nvSpPr>
        <p:spPr/>
        <p:txBody>
          <a:bodyPr/>
          <a:lstStyle/>
          <a:p>
            <a:fld id="{48E6EF77-D4E0-41DF-AF27-2DB2A41E0312}" type="slidenum">
              <a:rPr lang="en-US" smtClean="0"/>
              <a:t>‹#›</a:t>
            </a:fld>
            <a:endParaRPr lang="en-US"/>
          </a:p>
        </p:txBody>
      </p:sp>
    </p:spTree>
    <p:extLst>
      <p:ext uri="{BB962C8B-B14F-4D97-AF65-F5344CB8AC3E}">
        <p14:creationId xmlns:p14="http://schemas.microsoft.com/office/powerpoint/2010/main" val="38986499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CDB8A-AAC0-BA0E-03F5-ECEFC9B023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D229CDB-6469-27CA-A86D-B37F0E5564C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49B72B6-EA21-6280-BADC-F250795BA3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2EB9C7-5B84-74C9-ECA4-06A0341A1787}"/>
              </a:ext>
            </a:extLst>
          </p:cNvPr>
          <p:cNvSpPr>
            <a:spLocks noGrp="1"/>
          </p:cNvSpPr>
          <p:nvPr>
            <p:ph type="dt" sz="half" idx="10"/>
          </p:nvPr>
        </p:nvSpPr>
        <p:spPr/>
        <p:txBody>
          <a:bodyPr/>
          <a:lstStyle/>
          <a:p>
            <a:fld id="{C6079EE1-6BFD-49BD-B3D8-703F9CFCDF5F}" type="datetimeFigureOut">
              <a:rPr lang="en-US" smtClean="0"/>
              <a:t>6/2/2026</a:t>
            </a:fld>
            <a:endParaRPr lang="en-US"/>
          </a:p>
        </p:txBody>
      </p:sp>
      <p:sp>
        <p:nvSpPr>
          <p:cNvPr id="6" name="Footer Placeholder 5">
            <a:extLst>
              <a:ext uri="{FF2B5EF4-FFF2-40B4-BE49-F238E27FC236}">
                <a16:creationId xmlns:a16="http://schemas.microsoft.com/office/drawing/2014/main" id="{7EC618C7-A968-1412-1CE7-7F7EDAC42C9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0535E8-80EC-0430-664F-3DB7F41DC11B}"/>
              </a:ext>
            </a:extLst>
          </p:cNvPr>
          <p:cNvSpPr>
            <a:spLocks noGrp="1"/>
          </p:cNvSpPr>
          <p:nvPr>
            <p:ph type="sldNum" sz="quarter" idx="12"/>
          </p:nvPr>
        </p:nvSpPr>
        <p:spPr/>
        <p:txBody>
          <a:bodyPr/>
          <a:lstStyle/>
          <a:p>
            <a:fld id="{48E6EF77-D4E0-41DF-AF27-2DB2A41E0312}" type="slidenum">
              <a:rPr lang="en-US" smtClean="0"/>
              <a:t>‹#›</a:t>
            </a:fld>
            <a:endParaRPr lang="en-US"/>
          </a:p>
        </p:txBody>
      </p:sp>
    </p:spTree>
    <p:extLst>
      <p:ext uri="{BB962C8B-B14F-4D97-AF65-F5344CB8AC3E}">
        <p14:creationId xmlns:p14="http://schemas.microsoft.com/office/powerpoint/2010/main" val="30625506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EEA44-EB85-7130-A1FD-4D959DB7A1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B5CFA5C-AD2E-362E-C084-14B50F6190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BFEDF9F-F32A-3DAA-E926-35D6FCF466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DA9AC0-81EC-2B08-FC9C-DF127AEE6F79}"/>
              </a:ext>
            </a:extLst>
          </p:cNvPr>
          <p:cNvSpPr>
            <a:spLocks noGrp="1"/>
          </p:cNvSpPr>
          <p:nvPr>
            <p:ph type="dt" sz="half" idx="10"/>
          </p:nvPr>
        </p:nvSpPr>
        <p:spPr/>
        <p:txBody>
          <a:bodyPr/>
          <a:lstStyle/>
          <a:p>
            <a:fld id="{C6079EE1-6BFD-49BD-B3D8-703F9CFCDF5F}" type="datetimeFigureOut">
              <a:rPr lang="en-US" smtClean="0"/>
              <a:t>6/2/2026</a:t>
            </a:fld>
            <a:endParaRPr lang="en-US"/>
          </a:p>
        </p:txBody>
      </p:sp>
      <p:sp>
        <p:nvSpPr>
          <p:cNvPr id="6" name="Footer Placeholder 5">
            <a:extLst>
              <a:ext uri="{FF2B5EF4-FFF2-40B4-BE49-F238E27FC236}">
                <a16:creationId xmlns:a16="http://schemas.microsoft.com/office/drawing/2014/main" id="{29F27408-FBD0-566C-1D0B-1CB9157199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335608-DFA0-BF14-8FF8-5FBF9BFF0A25}"/>
              </a:ext>
            </a:extLst>
          </p:cNvPr>
          <p:cNvSpPr>
            <a:spLocks noGrp="1"/>
          </p:cNvSpPr>
          <p:nvPr>
            <p:ph type="sldNum" sz="quarter" idx="12"/>
          </p:nvPr>
        </p:nvSpPr>
        <p:spPr/>
        <p:txBody>
          <a:bodyPr/>
          <a:lstStyle/>
          <a:p>
            <a:fld id="{48E6EF77-D4E0-41DF-AF27-2DB2A41E0312}" type="slidenum">
              <a:rPr lang="en-US" smtClean="0"/>
              <a:t>‹#›</a:t>
            </a:fld>
            <a:endParaRPr lang="en-US"/>
          </a:p>
        </p:txBody>
      </p:sp>
    </p:spTree>
    <p:extLst>
      <p:ext uri="{BB962C8B-B14F-4D97-AF65-F5344CB8AC3E}">
        <p14:creationId xmlns:p14="http://schemas.microsoft.com/office/powerpoint/2010/main" val="2264017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F9691-0C26-85F8-002F-5685FD409DD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9F578ED-BE32-7245-A2B3-6F45C5312F7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183B5D-66CC-A7D4-C769-26D79857AD90}"/>
              </a:ext>
            </a:extLst>
          </p:cNvPr>
          <p:cNvSpPr>
            <a:spLocks noGrp="1"/>
          </p:cNvSpPr>
          <p:nvPr>
            <p:ph type="dt" sz="half" idx="10"/>
          </p:nvPr>
        </p:nvSpPr>
        <p:spPr/>
        <p:txBody>
          <a:bodyPr/>
          <a:lstStyle/>
          <a:p>
            <a:fld id="{C6079EE1-6BFD-49BD-B3D8-703F9CFCDF5F}" type="datetimeFigureOut">
              <a:rPr lang="en-US" smtClean="0"/>
              <a:t>6/2/2026</a:t>
            </a:fld>
            <a:endParaRPr lang="en-US"/>
          </a:p>
        </p:txBody>
      </p:sp>
      <p:sp>
        <p:nvSpPr>
          <p:cNvPr id="5" name="Footer Placeholder 4">
            <a:extLst>
              <a:ext uri="{FF2B5EF4-FFF2-40B4-BE49-F238E27FC236}">
                <a16:creationId xmlns:a16="http://schemas.microsoft.com/office/drawing/2014/main" id="{43A617DB-5C5E-903F-16EA-44BDDB53E1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2AB702-8D45-0EAC-9410-5AC87CF951A2}"/>
              </a:ext>
            </a:extLst>
          </p:cNvPr>
          <p:cNvSpPr>
            <a:spLocks noGrp="1"/>
          </p:cNvSpPr>
          <p:nvPr>
            <p:ph type="sldNum" sz="quarter" idx="12"/>
          </p:nvPr>
        </p:nvSpPr>
        <p:spPr/>
        <p:txBody>
          <a:bodyPr/>
          <a:lstStyle/>
          <a:p>
            <a:fld id="{48E6EF77-D4E0-41DF-AF27-2DB2A41E0312}" type="slidenum">
              <a:rPr lang="en-US" smtClean="0"/>
              <a:t>‹#›</a:t>
            </a:fld>
            <a:endParaRPr lang="en-US"/>
          </a:p>
        </p:txBody>
      </p:sp>
    </p:spTree>
    <p:extLst>
      <p:ext uri="{BB962C8B-B14F-4D97-AF65-F5344CB8AC3E}">
        <p14:creationId xmlns:p14="http://schemas.microsoft.com/office/powerpoint/2010/main" val="26957423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84B98DA-9790-6AD0-3985-E953DC00094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39B839D-E847-1D4F-73A8-0B4D156AEA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7F623E-9858-14C3-8D93-AFF508B92F96}"/>
              </a:ext>
            </a:extLst>
          </p:cNvPr>
          <p:cNvSpPr>
            <a:spLocks noGrp="1"/>
          </p:cNvSpPr>
          <p:nvPr>
            <p:ph type="dt" sz="half" idx="10"/>
          </p:nvPr>
        </p:nvSpPr>
        <p:spPr/>
        <p:txBody>
          <a:bodyPr/>
          <a:lstStyle/>
          <a:p>
            <a:fld id="{C6079EE1-6BFD-49BD-B3D8-703F9CFCDF5F}" type="datetimeFigureOut">
              <a:rPr lang="en-US" smtClean="0"/>
              <a:t>6/2/2026</a:t>
            </a:fld>
            <a:endParaRPr lang="en-US"/>
          </a:p>
        </p:txBody>
      </p:sp>
      <p:sp>
        <p:nvSpPr>
          <p:cNvPr id="5" name="Footer Placeholder 4">
            <a:extLst>
              <a:ext uri="{FF2B5EF4-FFF2-40B4-BE49-F238E27FC236}">
                <a16:creationId xmlns:a16="http://schemas.microsoft.com/office/drawing/2014/main" id="{2BBA14C1-0C06-47A1-B1C3-42E07A8CE4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DFAB80-9B59-4911-2AAF-4B58CB682D40}"/>
              </a:ext>
            </a:extLst>
          </p:cNvPr>
          <p:cNvSpPr>
            <a:spLocks noGrp="1"/>
          </p:cNvSpPr>
          <p:nvPr>
            <p:ph type="sldNum" sz="quarter" idx="12"/>
          </p:nvPr>
        </p:nvSpPr>
        <p:spPr/>
        <p:txBody>
          <a:bodyPr/>
          <a:lstStyle/>
          <a:p>
            <a:fld id="{48E6EF77-D4E0-41DF-AF27-2DB2A41E0312}" type="slidenum">
              <a:rPr lang="en-US" smtClean="0"/>
              <a:t>‹#›</a:t>
            </a:fld>
            <a:endParaRPr lang="en-US"/>
          </a:p>
        </p:txBody>
      </p:sp>
    </p:spTree>
    <p:extLst>
      <p:ext uri="{BB962C8B-B14F-4D97-AF65-F5344CB8AC3E}">
        <p14:creationId xmlns:p14="http://schemas.microsoft.com/office/powerpoint/2010/main" val="25884171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00DFD3C-28F9-A4A7-C239-C96161037E9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879F762-03F5-10FD-0ED3-56235EACF2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4963C9-712B-95C3-1096-3449BF4835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079EE1-6BFD-49BD-B3D8-703F9CFCDF5F}" type="datetimeFigureOut">
              <a:rPr lang="en-US" smtClean="0"/>
              <a:t>6/2/2026</a:t>
            </a:fld>
            <a:endParaRPr lang="en-US"/>
          </a:p>
        </p:txBody>
      </p:sp>
      <p:sp>
        <p:nvSpPr>
          <p:cNvPr id="5" name="Footer Placeholder 4">
            <a:extLst>
              <a:ext uri="{FF2B5EF4-FFF2-40B4-BE49-F238E27FC236}">
                <a16:creationId xmlns:a16="http://schemas.microsoft.com/office/drawing/2014/main" id="{7D7013F9-F540-ED92-B7B6-48C91FF843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94A82A6-7F83-E9B7-4AE8-1D2DB6902FC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E6EF77-D4E0-41DF-AF27-2DB2A41E0312}" type="slidenum">
              <a:rPr lang="en-US" smtClean="0"/>
              <a:t>‹#›</a:t>
            </a:fld>
            <a:endParaRPr lang="en-US"/>
          </a:p>
        </p:txBody>
      </p:sp>
    </p:spTree>
    <p:extLst>
      <p:ext uri="{BB962C8B-B14F-4D97-AF65-F5344CB8AC3E}">
        <p14:creationId xmlns:p14="http://schemas.microsoft.com/office/powerpoint/2010/main" val="24777582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8A395-6A03-DD38-9CF4-6478A1D1D594}"/>
              </a:ext>
            </a:extLst>
          </p:cNvPr>
          <p:cNvSpPr>
            <a:spLocks noGrp="1"/>
          </p:cNvSpPr>
          <p:nvPr>
            <p:ph type="ctrTitle"/>
          </p:nvPr>
        </p:nvSpPr>
        <p:spPr>
          <a:xfrm>
            <a:off x="1524000" y="1005839"/>
            <a:ext cx="9144000" cy="2504123"/>
          </a:xfrm>
        </p:spPr>
        <p:txBody>
          <a:bodyPr>
            <a:normAutofit fontScale="90000"/>
          </a:bodyPr>
          <a:lstStyle/>
          <a:p>
            <a:pPr lvl="0" algn="l" eaLnBrk="0" fontAlgn="base" hangingPunct="0">
              <a:lnSpc>
                <a:spcPct val="100000"/>
              </a:lnSpc>
              <a:spcAft>
                <a:spcPct val="0"/>
              </a:spcAft>
            </a:pPr>
            <a:br>
              <a:rPr lang="en-US" dirty="0"/>
            </a:br>
            <a:r>
              <a:rPr lang="en-US" sz="2700" u="sng" dirty="0">
                <a:solidFill>
                  <a:srgbClr val="00B050"/>
                </a:solidFill>
                <a:latin typeface="Calibri" panose="020F0502020204030204" pitchFamily="34" charset="0"/>
                <a:ea typeface="Calibri" panose="020F0502020204030204" pitchFamily="34" charset="0"/>
                <a:cs typeface="Times New Roman" panose="02020603050405020304" pitchFamily="18" charset="0"/>
              </a:rPr>
              <a:t>P</a:t>
            </a:r>
            <a:r>
              <a:rPr lang="en-US" altLang="en-US" sz="2700" u="sng" dirty="0">
                <a:solidFill>
                  <a:srgbClr val="00B050"/>
                </a:solidFill>
                <a:latin typeface="Calibri" panose="020F0502020204030204" pitchFamily="34" charset="0"/>
                <a:ea typeface="Calibri" panose="020F0502020204030204" pitchFamily="34" charset="0"/>
                <a:cs typeface="Times New Roman" panose="02020603050405020304" pitchFamily="18" charset="0"/>
              </a:rPr>
              <a:t>ROJECT REQUIREMENT PROPOSAL</a:t>
            </a:r>
            <a:br>
              <a:rPr lang="en-US" dirty="0"/>
            </a:br>
            <a:br>
              <a:rPr kumimoji="0" lang="en-US" altLang="en-US" sz="1800" b="0" i="0" u="sng" strike="noStrike" cap="none" normalizeH="0" baseline="0" dirty="0">
                <a:ln>
                  <a:noFill/>
                </a:ln>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br>
            <a:r>
              <a:rPr lang="en-US" altLang="en-US" dirty="0">
                <a:latin typeface="Calibri" panose="020F0502020204030204" pitchFamily="34" charset="0"/>
                <a:ea typeface="Calibri" panose="020F0502020204030204" pitchFamily="34" charset="0"/>
                <a:cs typeface="Times New Roman" panose="02020603050405020304" pitchFamily="18" charset="0"/>
              </a:rPr>
              <a:t> </a:t>
            </a:r>
            <a:r>
              <a:rPr lang="en-US" altLang="en-US" sz="2200" b="1" dirty="0">
                <a:latin typeface="Calibri" panose="020F0502020204030204" pitchFamily="34" charset="0"/>
                <a:ea typeface="Calibri" panose="020F0502020204030204" pitchFamily="34" charset="0"/>
                <a:cs typeface="Times New Roman" panose="02020603050405020304" pitchFamily="18" charset="0"/>
              </a:rPr>
              <a:t>WEBSITE DEVELOPMENT PROJECT FOR  IFU LTD</a:t>
            </a:r>
            <a:r>
              <a:rPr lang="en-US" altLang="en-US" sz="2200" dirty="0">
                <a:latin typeface="Calibri" panose="020F0502020204030204" pitchFamily="34" charset="0"/>
                <a:ea typeface="Calibri" panose="020F0502020204030204" pitchFamily="34" charset="0"/>
                <a:cs typeface="Times New Roman" panose="02020603050405020304" pitchFamily="18" charset="0"/>
              </a:rPr>
              <a:t>       </a:t>
            </a:r>
            <a:br>
              <a:rPr kumimoji="0" lang="en-US" altLang="en-US" sz="3600" b="0" i="0" u="none" strike="noStrike" cap="none" normalizeH="0" baseline="0" dirty="0">
                <a:ln>
                  <a:noFill/>
                </a:ln>
                <a:solidFill>
                  <a:schemeClr val="tx1"/>
                </a:solidFill>
                <a:effectLst/>
              </a:rPr>
            </a:br>
            <a:endParaRPr lang="en-US" dirty="0"/>
          </a:p>
        </p:txBody>
      </p:sp>
      <p:sp>
        <p:nvSpPr>
          <p:cNvPr id="3" name="Subtitle 2">
            <a:extLst>
              <a:ext uri="{FF2B5EF4-FFF2-40B4-BE49-F238E27FC236}">
                <a16:creationId xmlns:a16="http://schemas.microsoft.com/office/drawing/2014/main" id="{22381D19-260B-414F-C602-B787DB7A9D56}"/>
              </a:ext>
            </a:extLst>
          </p:cNvPr>
          <p:cNvSpPr>
            <a:spLocks noGrp="1"/>
          </p:cNvSpPr>
          <p:nvPr>
            <p:ph type="subTitle" idx="1"/>
          </p:nvPr>
        </p:nvSpPr>
        <p:spPr>
          <a:xfrm>
            <a:off x="1524000" y="3602038"/>
            <a:ext cx="9144000" cy="2906827"/>
          </a:xfrm>
        </p:spPr>
        <p:txBody>
          <a:bodyPr>
            <a:normAutofit/>
          </a:bodyPr>
          <a:lstStyle/>
          <a:p>
            <a:pPr lvl="0" algn="l" eaLnBrk="0" fontAlgn="base" hangingPunct="0">
              <a:lnSpc>
                <a:spcPct val="100000"/>
              </a:lnSpc>
              <a:spcBef>
                <a:spcPct val="0"/>
              </a:spcBef>
              <a:spcAft>
                <a:spcPct val="0"/>
              </a:spcAft>
            </a:pPr>
            <a:r>
              <a:rPr lang="en-US" altLang="en-US" i="1" dirty="0">
                <a:latin typeface="Calibri" panose="020F0502020204030204" pitchFamily="34" charset="0"/>
                <a:ea typeface="Calibri" panose="020F0502020204030204" pitchFamily="34" charset="0"/>
                <a:cs typeface="Times New Roman" panose="02020603050405020304" pitchFamily="18" charset="0"/>
              </a:rPr>
              <a:t>Prepared By:</a:t>
            </a:r>
            <a:r>
              <a:rPr lang="en-US" altLang="en-US" dirty="0">
                <a:latin typeface="Calibri" panose="020F0502020204030204" pitchFamily="34" charset="0"/>
                <a:ea typeface="Calibri" panose="020F0502020204030204" pitchFamily="34" charset="0"/>
                <a:cs typeface="Times New Roman" panose="02020603050405020304" pitchFamily="18" charset="0"/>
              </a:rPr>
              <a:t> </a:t>
            </a:r>
            <a:r>
              <a:rPr lang="en-US" altLang="en-US" dirty="0">
                <a:latin typeface="Bauhaus 93" panose="04030905020B02020C02" pitchFamily="82" charset="0"/>
                <a:ea typeface="Calibri" panose="020F0502020204030204" pitchFamily="34" charset="0"/>
                <a:cs typeface="Times New Roman" panose="02020603050405020304" pitchFamily="18" charset="0"/>
              </a:rPr>
              <a:t>IRANZI CHARLOTTE</a:t>
            </a:r>
          </a:p>
          <a:p>
            <a:pPr lvl="0" algn="l" eaLnBrk="0" fontAlgn="base" hangingPunct="0">
              <a:lnSpc>
                <a:spcPct val="100000"/>
              </a:lnSpc>
              <a:spcBef>
                <a:spcPct val="0"/>
              </a:spcBef>
              <a:spcAft>
                <a:spcPct val="0"/>
              </a:spcAft>
            </a:pPr>
            <a:endParaRPr kumimoji="0" lang="en-US" altLang="en-US" sz="1200" b="0" i="0" u="none" strike="noStrike" cap="none" normalizeH="0" baseline="0" dirty="0">
              <a:ln>
                <a:noFill/>
              </a:ln>
              <a:solidFill>
                <a:schemeClr val="tx1"/>
              </a:solidFill>
              <a:effectLst/>
            </a:endParaRPr>
          </a:p>
          <a:p>
            <a:pPr lvl="0" algn="l" eaLnBrk="0" fontAlgn="base" hangingPunct="0">
              <a:lnSpc>
                <a:spcPct val="100000"/>
              </a:lnSpc>
              <a:spcBef>
                <a:spcPct val="0"/>
              </a:spcBef>
              <a:spcAft>
                <a:spcPct val="0"/>
              </a:spcAft>
            </a:pPr>
            <a:r>
              <a:rPr lang="en-US" altLang="en-US" dirty="0">
                <a:latin typeface="Bahnschrift Light Condensed" panose="020B0502040204020203" pitchFamily="34" charset="0"/>
                <a:ea typeface="Calibri" panose="020F0502020204030204" pitchFamily="34" charset="0"/>
                <a:cs typeface="Times New Roman" panose="02020603050405020304" pitchFamily="18" charset="0"/>
              </a:rPr>
              <a:t>             occupation  :   </a:t>
            </a:r>
            <a:r>
              <a:rPr lang="en-US" altLang="en-US" dirty="0">
                <a:latin typeface="Britannic Bold" panose="020B0903060703020204" pitchFamily="34" charset="0"/>
                <a:ea typeface="Calibri" panose="020F0502020204030204" pitchFamily="34" charset="0"/>
                <a:cs typeface="Times New Roman" panose="02020603050405020304" pitchFamily="18" charset="0"/>
              </a:rPr>
              <a:t>web analyst</a:t>
            </a:r>
            <a:r>
              <a:rPr lang="en-US" altLang="en-US" dirty="0">
                <a:latin typeface="Bahnschrift Light Condensed" panose="020B0502040204020203" pitchFamily="34" charset="0"/>
                <a:ea typeface="Calibri" panose="020F0502020204030204" pitchFamily="34" charset="0"/>
                <a:cs typeface="Times New Roman" panose="02020603050405020304" pitchFamily="18" charset="0"/>
              </a:rPr>
              <a:t>    </a:t>
            </a:r>
            <a:endParaRPr kumimoji="0" lang="en-US" altLang="en-US" sz="800" b="0" i="0" u="none" strike="noStrike" cap="none" normalizeH="0" baseline="0" dirty="0">
              <a:ln>
                <a:noFill/>
              </a:ln>
              <a:solidFill>
                <a:schemeClr val="tx1"/>
              </a:solidFill>
              <a:effectLst/>
            </a:endParaRPr>
          </a:p>
          <a:p>
            <a:pPr lvl="0" algn="l" eaLnBrk="0" fontAlgn="base" hangingPunct="0">
              <a:lnSpc>
                <a:spcPct val="100000"/>
              </a:lnSpc>
              <a:spcBef>
                <a:spcPct val="0"/>
              </a:spcBef>
              <a:spcAft>
                <a:spcPct val="0"/>
              </a:spcAft>
            </a:pPr>
            <a:r>
              <a:rPr lang="en-US" altLang="en-US" sz="1200" dirty="0">
                <a:latin typeface="Bahnschrift Light Condensed" panose="020B0502040204020203" pitchFamily="34" charset="0"/>
                <a:ea typeface="Calibri" panose="020F0502020204030204" pitchFamily="34" charset="0"/>
                <a:cs typeface="Times New Roman" panose="02020603050405020304" pitchFamily="18" charset="0"/>
              </a:rPr>
              <a:t>             occupation  :   </a:t>
            </a:r>
            <a:r>
              <a:rPr lang="en-US" altLang="en-US" sz="1200" dirty="0">
                <a:latin typeface="Britannic Bold" panose="020B0903060703020204" pitchFamily="34" charset="0"/>
                <a:ea typeface="Calibri" panose="020F0502020204030204" pitchFamily="34" charset="0"/>
                <a:cs typeface="Times New Roman" panose="02020603050405020304" pitchFamily="18" charset="0"/>
              </a:rPr>
              <a:t>web analyst</a:t>
            </a:r>
            <a:r>
              <a:rPr lang="en-US" altLang="en-US" sz="1200" dirty="0">
                <a:latin typeface="Bahnschrift Light Condensed" panose="020B0502040204020203" pitchFamily="34" charset="0"/>
                <a:ea typeface="Calibri" panose="020F0502020204030204" pitchFamily="34" charset="0"/>
                <a:cs typeface="Times New Roman" panose="02020603050405020304" pitchFamily="18" charset="0"/>
              </a:rPr>
              <a:t>    </a:t>
            </a:r>
          </a:p>
          <a:p>
            <a:pPr lvl="0" algn="l" eaLnBrk="0" fontAlgn="base" hangingPunct="0">
              <a:lnSpc>
                <a:spcPct val="100000"/>
              </a:lnSpc>
              <a:spcBef>
                <a:spcPct val="0"/>
              </a:spcBef>
              <a:spcAft>
                <a:spcPct val="0"/>
              </a:spcAft>
            </a:pPr>
            <a:endParaRPr kumimoji="0" lang="en-US" altLang="en-US" sz="1200" b="0" i="0" u="none" strike="noStrike" cap="none" normalizeH="0" baseline="0" dirty="0">
              <a:ln>
                <a:noFill/>
              </a:ln>
              <a:solidFill>
                <a:schemeClr val="tx1"/>
              </a:solidFill>
              <a:effectLst/>
              <a:latin typeface="Bahnschrift Light Condensed" panose="020B0502040204020203" pitchFamily="34" charset="0"/>
              <a:ea typeface="Calibri" panose="020F0502020204030204" pitchFamily="34" charset="0"/>
              <a:cs typeface="Times New Roman" panose="02020603050405020304" pitchFamily="18" charset="0"/>
            </a:endParaRPr>
          </a:p>
          <a:p>
            <a:pPr lvl="0" algn="l" eaLnBrk="0" fontAlgn="base" hangingPunct="0">
              <a:lnSpc>
                <a:spcPct val="100000"/>
              </a:lnSpc>
              <a:spcBef>
                <a:spcPct val="0"/>
              </a:spcBef>
              <a:spcAft>
                <a:spcPct val="0"/>
              </a:spcAft>
            </a:pPr>
            <a:endParaRPr kumimoji="0" lang="en-US" altLang="en-US" sz="800" b="0" i="0" u="none" strike="noStrike" cap="none" normalizeH="0" baseline="0" dirty="0">
              <a:ln>
                <a:noFill/>
              </a:ln>
              <a:solidFill>
                <a:schemeClr val="tx1"/>
              </a:solidFill>
              <a:effectLst/>
            </a:endParaRPr>
          </a:p>
          <a:p>
            <a:pPr lvl="0" algn="l" eaLnBrk="0" fontAlgn="base" hangingPunct="0">
              <a:lnSpc>
                <a:spcPct val="100000"/>
              </a:lnSpc>
              <a:spcBef>
                <a:spcPct val="0"/>
              </a:spcBef>
              <a:spcAft>
                <a:spcPct val="0"/>
              </a:spcAft>
            </a:pPr>
            <a:endParaRPr kumimoji="0" lang="en-US" altLang="en-US" sz="1200" b="0" i="0" u="none" strike="noStrike" cap="none" normalizeH="0" baseline="0" dirty="0">
              <a:ln>
                <a:noFill/>
              </a:ln>
              <a:solidFill>
                <a:schemeClr val="tx1"/>
              </a:solidFill>
              <a:effectLst/>
            </a:endParaRPr>
          </a:p>
          <a:p>
            <a:pPr lvl="0" algn="l" eaLnBrk="0" fontAlgn="base" hangingPunct="0">
              <a:lnSpc>
                <a:spcPct val="100000"/>
              </a:lnSpc>
              <a:spcBef>
                <a:spcPct val="0"/>
              </a:spcBef>
              <a:spcAft>
                <a:spcPct val="0"/>
              </a:spcAft>
            </a:pPr>
            <a:r>
              <a:rPr lang="en-US" altLang="en-US" dirty="0">
                <a:latin typeface="Bahnschrift SemiLight Condensed" panose="020B0502040204020203" pitchFamily="34" charset="0"/>
                <a:ea typeface="Calibri" panose="020F0502020204030204" pitchFamily="34" charset="0"/>
                <a:cs typeface="Times New Roman" panose="02020603050405020304" pitchFamily="18" charset="0"/>
              </a:rPr>
              <a:t>Submitted To</a:t>
            </a:r>
            <a:r>
              <a:rPr lang="en-US" altLang="en-US" dirty="0">
                <a:latin typeface="Calibri" panose="020F0502020204030204" pitchFamily="34" charset="0"/>
                <a:ea typeface="Calibri" panose="020F0502020204030204" pitchFamily="34" charset="0"/>
                <a:cs typeface="Times New Roman" panose="02020603050405020304" pitchFamily="18" charset="0"/>
              </a:rPr>
              <a:t>: </a:t>
            </a:r>
            <a:r>
              <a:rPr lang="en-US" altLang="en-US" dirty="0">
                <a:latin typeface="Britannic Bold" panose="020B0903060703020204" pitchFamily="34" charset="0"/>
                <a:ea typeface="Calibri" panose="020F0502020204030204" pitchFamily="34" charset="0"/>
                <a:cs typeface="Times New Roman" panose="02020603050405020304" pitchFamily="18" charset="0"/>
              </a:rPr>
              <a:t>IFU Ltd Manager</a:t>
            </a:r>
            <a:endParaRPr kumimoji="0" lang="en-US" altLang="en-US" sz="1200" b="0" i="0" u="none" strike="noStrike" cap="none" normalizeH="0" baseline="0" dirty="0">
              <a:ln>
                <a:noFill/>
              </a:ln>
              <a:solidFill>
                <a:schemeClr val="tx1"/>
              </a:solidFill>
              <a:effectLst/>
            </a:endParaRPr>
          </a:p>
          <a:p>
            <a:pPr lvl="0" algn="l" eaLnBrk="0" fontAlgn="base" hangingPunct="0">
              <a:lnSpc>
                <a:spcPct val="100000"/>
              </a:lnSpc>
              <a:spcBef>
                <a:spcPct val="0"/>
              </a:spcBef>
              <a:spcAft>
                <a:spcPct val="0"/>
              </a:spcAft>
            </a:pPr>
            <a:r>
              <a:rPr lang="en-US" altLang="en-US" dirty="0">
                <a:latin typeface="Calibri" panose="020F0502020204030204" pitchFamily="34" charset="0"/>
                <a:ea typeface="Calibri" panose="020F0502020204030204" pitchFamily="34" charset="0"/>
                <a:cs typeface="Times New Roman" panose="02020603050405020304" pitchFamily="18" charset="0"/>
              </a:rPr>
              <a:t>       </a:t>
            </a:r>
            <a:r>
              <a:rPr lang="en-US" altLang="en-US" dirty="0">
                <a:latin typeface="Bahnschrift Light SemiCondensed" panose="020B0502040204020203" pitchFamily="34" charset="0"/>
                <a:ea typeface="Calibri" panose="020F0502020204030204" pitchFamily="34" charset="0"/>
                <a:cs typeface="Times New Roman" panose="02020603050405020304" pitchFamily="18" charset="0"/>
              </a:rPr>
              <a:t>Location</a:t>
            </a:r>
            <a:r>
              <a:rPr lang="en-US" altLang="en-US" dirty="0">
                <a:latin typeface="Calibri" panose="020F0502020204030204" pitchFamily="34" charset="0"/>
                <a:ea typeface="Calibri" panose="020F0502020204030204" pitchFamily="34" charset="0"/>
                <a:cs typeface="Times New Roman" panose="02020603050405020304" pitchFamily="18" charset="0"/>
              </a:rPr>
              <a:t>: </a:t>
            </a:r>
            <a:r>
              <a:rPr lang="en-US" altLang="en-US" dirty="0">
                <a:latin typeface="Britannic Bold" panose="020B0903060703020204" pitchFamily="34" charset="0"/>
                <a:ea typeface="Calibri" panose="020F0502020204030204" pitchFamily="34" charset="0"/>
                <a:cs typeface="Times New Roman" panose="02020603050405020304" pitchFamily="18" charset="0"/>
              </a:rPr>
              <a:t>Muhanga District, Rwanda</a:t>
            </a:r>
            <a:endParaRPr kumimoji="0" lang="en-US" altLang="en-US" sz="1200" b="0" i="0" u="none" strike="noStrike" cap="none" normalizeH="0" baseline="0" dirty="0">
              <a:ln>
                <a:noFill/>
              </a:ln>
              <a:solidFill>
                <a:schemeClr val="tx1"/>
              </a:solidFill>
              <a:effectLst/>
            </a:endParaRPr>
          </a:p>
          <a:p>
            <a:pPr lvl="0" algn="l" eaLnBrk="0" fontAlgn="base" hangingPunct="0">
              <a:lnSpc>
                <a:spcPct val="100000"/>
              </a:lnSpc>
              <a:spcBef>
                <a:spcPct val="0"/>
              </a:spcBef>
              <a:spcAft>
                <a:spcPct val="0"/>
              </a:spcAft>
            </a:pPr>
            <a:r>
              <a:rPr lang="en-US" altLang="en-US" dirty="0">
                <a:latin typeface="Bahnschrift SemiBold Condensed" panose="020B0502040204020203" pitchFamily="34" charset="0"/>
                <a:ea typeface="Calibri" panose="020F0502020204030204" pitchFamily="34" charset="0"/>
                <a:cs typeface="Times New Roman" panose="02020603050405020304" pitchFamily="18" charset="0"/>
              </a:rPr>
              <a:t>                     Date</a:t>
            </a:r>
            <a:r>
              <a:rPr lang="en-US" altLang="en-US" dirty="0">
                <a:latin typeface="Calibri" panose="020F0502020204030204" pitchFamily="34" charset="0"/>
                <a:ea typeface="Calibri" panose="020F0502020204030204" pitchFamily="34" charset="0"/>
                <a:cs typeface="Times New Roman" panose="02020603050405020304" pitchFamily="18" charset="0"/>
              </a:rPr>
              <a:t>: </a:t>
            </a:r>
            <a:r>
              <a:rPr lang="en-US" altLang="en-US" dirty="0">
                <a:latin typeface="Britannic Bold" panose="020B0903060703020204" pitchFamily="34" charset="0"/>
                <a:ea typeface="Calibri" panose="020F0502020204030204" pitchFamily="34" charset="0"/>
                <a:cs typeface="Times New Roman" panose="02020603050405020304" pitchFamily="18" charset="0"/>
              </a:rPr>
              <a:t>June 2026</a:t>
            </a:r>
            <a:endParaRPr kumimoji="0" lang="en-US" altLang="en-US" sz="1200" b="0" i="0" u="none" strike="noStrike" cap="none" normalizeH="0" baseline="0" dirty="0">
              <a:ln>
                <a:noFill/>
              </a:ln>
              <a:solidFill>
                <a:schemeClr val="tx1"/>
              </a:solidFill>
              <a:effectLst/>
            </a:endParaRPr>
          </a:p>
          <a:p>
            <a:endParaRPr lang="en-US" dirty="0"/>
          </a:p>
        </p:txBody>
      </p:sp>
      <p:pic>
        <p:nvPicPr>
          <p:cNvPr id="5" name="Picture 4">
            <a:extLst>
              <a:ext uri="{FF2B5EF4-FFF2-40B4-BE49-F238E27FC236}">
                <a16:creationId xmlns:a16="http://schemas.microsoft.com/office/drawing/2014/main" id="{198FD886-D85E-2A48-C305-F1CC174A98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23691" y="2527541"/>
            <a:ext cx="1440611" cy="1074498"/>
          </a:xfrm>
          <a:prstGeom prst="rect">
            <a:avLst/>
          </a:prstGeom>
        </p:spPr>
      </p:pic>
    </p:spTree>
    <p:extLst>
      <p:ext uri="{BB962C8B-B14F-4D97-AF65-F5344CB8AC3E}">
        <p14:creationId xmlns:p14="http://schemas.microsoft.com/office/powerpoint/2010/main" val="258897606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AA095-EE47-D97F-3A26-DD1370A8ABB7}"/>
              </a:ext>
            </a:extLst>
          </p:cNvPr>
          <p:cNvSpPr>
            <a:spLocks noGrp="1"/>
          </p:cNvSpPr>
          <p:nvPr>
            <p:ph type="ctrTitle"/>
          </p:nvPr>
        </p:nvSpPr>
        <p:spPr>
          <a:xfrm>
            <a:off x="1524000" y="1122363"/>
            <a:ext cx="9144000" cy="1336165"/>
          </a:xfrm>
        </p:spPr>
        <p:txBody>
          <a:bodyPr>
            <a:normAutofit/>
          </a:bodyPr>
          <a:lstStyle/>
          <a:p>
            <a:r>
              <a:rPr lang="en-US" u="sng" dirty="0">
                <a:solidFill>
                  <a:srgbClr val="00B0F0"/>
                </a:solidFill>
              </a:rPr>
              <a:t>INTRODUCTION</a:t>
            </a:r>
          </a:p>
        </p:txBody>
      </p:sp>
      <p:sp>
        <p:nvSpPr>
          <p:cNvPr id="3" name="Subtitle 2">
            <a:extLst>
              <a:ext uri="{FF2B5EF4-FFF2-40B4-BE49-F238E27FC236}">
                <a16:creationId xmlns:a16="http://schemas.microsoft.com/office/drawing/2014/main" id="{14C5D3C7-08EF-E0CA-1C3C-403F9C65DF88}"/>
              </a:ext>
            </a:extLst>
          </p:cNvPr>
          <p:cNvSpPr>
            <a:spLocks noGrp="1"/>
          </p:cNvSpPr>
          <p:nvPr>
            <p:ph type="subTitle" idx="1"/>
          </p:nvPr>
        </p:nvSpPr>
        <p:spPr>
          <a:xfrm>
            <a:off x="1524000" y="3509963"/>
            <a:ext cx="9144000" cy="3192761"/>
          </a:xfrm>
        </p:spPr>
        <p:txBody>
          <a:bodyPr>
            <a:normAutofit fontScale="32500" lnSpcReduction="20000"/>
          </a:bodyPr>
          <a:lstStyle/>
          <a:p>
            <a:r>
              <a:rPr lang="en-US" sz="5600" dirty="0" err="1"/>
              <a:t>owever</a:t>
            </a:r>
            <a:r>
              <a:rPr lang="en-US" sz="5600" dirty="0"/>
              <a:t>, the company is currently facing a major challenge: it has no strong online presence. As a result, customers are unable to easily find information about its products and services, and this limits its visibility in the market.</a:t>
            </a:r>
          </a:p>
          <a:p>
            <a:r>
              <a:rPr lang="en-US" sz="5600" dirty="0"/>
              <a:t>This project aims to design and develop a </a:t>
            </a:r>
            <a:r>
              <a:rPr lang="en-US" sz="5600" b="1" dirty="0"/>
              <a:t>professional company website</a:t>
            </a:r>
            <a:r>
              <a:rPr lang="en-US" sz="5600" dirty="0"/>
              <a:t> that will help IFU Ltd:</a:t>
            </a:r>
          </a:p>
          <a:p>
            <a:r>
              <a:rPr lang="en-US" sz="5600" dirty="0"/>
              <a:t>Improve its online visibility </a:t>
            </a:r>
          </a:p>
          <a:p>
            <a:r>
              <a:rPr lang="en-US" sz="5600" dirty="0"/>
              <a:t>Provide clear and accessible information about its cassava products </a:t>
            </a:r>
          </a:p>
          <a:p>
            <a:r>
              <a:rPr lang="en-US" sz="5600" dirty="0"/>
              <a:t>Reach more customers locally and internationally </a:t>
            </a:r>
          </a:p>
          <a:p>
            <a:r>
              <a:rPr lang="en-US" sz="5600" dirty="0"/>
              <a:t>Strengthen communication between the company and its clients </a:t>
            </a:r>
          </a:p>
          <a:p>
            <a:r>
              <a:rPr lang="en-US" sz="5600" dirty="0"/>
              <a:t>Enhance business growth through digital marketing and online branding </a:t>
            </a:r>
          </a:p>
          <a:p>
            <a:r>
              <a:rPr lang="en-US" sz="5600" dirty="0"/>
              <a:t>By developing this website, IFU Ltd will be able to modernize its operations and compete effectively in the digital market.</a:t>
            </a:r>
          </a:p>
          <a:p>
            <a:endParaRPr lang="en-US" dirty="0"/>
          </a:p>
        </p:txBody>
      </p:sp>
    </p:spTree>
    <p:extLst>
      <p:ext uri="{BB962C8B-B14F-4D97-AF65-F5344CB8AC3E}">
        <p14:creationId xmlns:p14="http://schemas.microsoft.com/office/powerpoint/2010/main" val="306898142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A2E6D-AA5A-01AD-C11C-C2F9B8123E5C}"/>
              </a:ext>
            </a:extLst>
          </p:cNvPr>
          <p:cNvSpPr>
            <a:spLocks noGrp="1"/>
          </p:cNvSpPr>
          <p:nvPr>
            <p:ph type="ctrTitle"/>
          </p:nvPr>
        </p:nvSpPr>
        <p:spPr>
          <a:xfrm>
            <a:off x="1636143" y="1041400"/>
            <a:ext cx="9144000" cy="1865702"/>
          </a:xfrm>
        </p:spPr>
        <p:txBody>
          <a:bodyPr/>
          <a:lstStyle/>
          <a:p>
            <a:r>
              <a:rPr lang="en-US" b="1" u="sng" dirty="0">
                <a:solidFill>
                  <a:srgbClr val="00B0F0"/>
                </a:solidFill>
              </a:rPr>
              <a:t>PROBLEM STATEMENT</a:t>
            </a:r>
            <a:br>
              <a:rPr lang="en-US" b="1" dirty="0"/>
            </a:br>
            <a:endParaRPr lang="en-US" dirty="0"/>
          </a:p>
        </p:txBody>
      </p:sp>
      <p:sp>
        <p:nvSpPr>
          <p:cNvPr id="3" name="Subtitle 2">
            <a:extLst>
              <a:ext uri="{FF2B5EF4-FFF2-40B4-BE49-F238E27FC236}">
                <a16:creationId xmlns:a16="http://schemas.microsoft.com/office/drawing/2014/main" id="{ABAE7C90-9391-9E20-20BF-959A171F9330}"/>
              </a:ext>
            </a:extLst>
          </p:cNvPr>
          <p:cNvSpPr>
            <a:spLocks noGrp="1"/>
          </p:cNvSpPr>
          <p:nvPr>
            <p:ph type="subTitle" idx="1"/>
          </p:nvPr>
        </p:nvSpPr>
        <p:spPr>
          <a:xfrm>
            <a:off x="1524000" y="3509963"/>
            <a:ext cx="9144000" cy="2839079"/>
          </a:xfrm>
        </p:spPr>
        <p:txBody>
          <a:bodyPr>
            <a:normAutofit/>
          </a:bodyPr>
          <a:lstStyle/>
          <a:p>
            <a:r>
              <a:rPr lang="en-US" sz="2800" dirty="0"/>
              <a:t>Lack of online presence </a:t>
            </a:r>
          </a:p>
          <a:p>
            <a:r>
              <a:rPr lang="en-US" sz="2800" dirty="0"/>
              <a:t>Customers cannot access company information </a:t>
            </a:r>
          </a:p>
          <a:p>
            <a:r>
              <a:rPr lang="en-US" sz="2800" dirty="0"/>
              <a:t>Limited market reach </a:t>
            </a:r>
          </a:p>
          <a:p>
            <a:r>
              <a:rPr lang="en-US" sz="2800" dirty="0"/>
              <a:t>Poor communication with clients </a:t>
            </a:r>
          </a:p>
          <a:p>
            <a:endParaRPr lang="en-US" dirty="0"/>
          </a:p>
        </p:txBody>
      </p:sp>
    </p:spTree>
    <p:extLst>
      <p:ext uri="{BB962C8B-B14F-4D97-AF65-F5344CB8AC3E}">
        <p14:creationId xmlns:p14="http://schemas.microsoft.com/office/powerpoint/2010/main" val="3730487090"/>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0AA94-D504-32E8-FBD7-A357A9838551}"/>
              </a:ext>
            </a:extLst>
          </p:cNvPr>
          <p:cNvSpPr>
            <a:spLocks noGrp="1"/>
          </p:cNvSpPr>
          <p:nvPr>
            <p:ph type="ctrTitle"/>
          </p:nvPr>
        </p:nvSpPr>
        <p:spPr>
          <a:xfrm>
            <a:off x="1524000" y="1122363"/>
            <a:ext cx="9144000" cy="956603"/>
          </a:xfrm>
        </p:spPr>
        <p:txBody>
          <a:bodyPr/>
          <a:lstStyle/>
          <a:p>
            <a:r>
              <a:rPr lang="en-US" u="sng" dirty="0">
                <a:solidFill>
                  <a:srgbClr val="00B0F0"/>
                </a:solidFill>
              </a:rPr>
              <a:t>PROJECT OBJECTIVES</a:t>
            </a:r>
          </a:p>
        </p:txBody>
      </p:sp>
      <p:sp>
        <p:nvSpPr>
          <p:cNvPr id="4" name="Rectangle 1">
            <a:extLst>
              <a:ext uri="{FF2B5EF4-FFF2-40B4-BE49-F238E27FC236}">
                <a16:creationId xmlns:a16="http://schemas.microsoft.com/office/drawing/2014/main" id="{9D8B34CE-1410-C7DC-28F1-1CD23BE45209}"/>
              </a:ext>
            </a:extLst>
          </p:cNvPr>
          <p:cNvSpPr>
            <a:spLocks noGrp="1" noChangeArrowheads="1"/>
          </p:cNvSpPr>
          <p:nvPr>
            <p:ph type="subTitle" idx="1"/>
          </p:nvPr>
        </p:nvSpPr>
        <p:spPr bwMode="auto">
          <a:xfrm>
            <a:off x="1802920" y="3275757"/>
            <a:ext cx="8791767"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promote IFU Ltd online and increase its visibility.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display and showcase cassava-based products in an organized and attractive way.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attract and reach customers at an international level.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improve communication between the company and its customers through a digital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platform (website). </a:t>
            </a:r>
          </a:p>
        </p:txBody>
      </p:sp>
    </p:spTree>
    <p:extLst>
      <p:ext uri="{BB962C8B-B14F-4D97-AF65-F5344CB8AC3E}">
        <p14:creationId xmlns:p14="http://schemas.microsoft.com/office/powerpoint/2010/main" val="3931641707"/>
      </p:ext>
    </p:extLst>
  </p:cSld>
  <p:clrMapOvr>
    <a:masterClrMapping/>
  </p:clrMapOvr>
  <mc:AlternateContent xmlns:mc="http://schemas.openxmlformats.org/markup-compatibility/2006">
    <mc:Choice xmlns:p14="http://schemas.microsoft.com/office/powerpoint/2010/main" Requires="p14">
      <p:transition spd="slow" p14:dur="4400">
        <p14:honeycomb/>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C7276-F749-AC4D-5004-D08EA5AEE58A}"/>
              </a:ext>
            </a:extLst>
          </p:cNvPr>
          <p:cNvSpPr>
            <a:spLocks noGrp="1"/>
          </p:cNvSpPr>
          <p:nvPr>
            <p:ph type="ctrTitle"/>
          </p:nvPr>
        </p:nvSpPr>
        <p:spPr>
          <a:xfrm>
            <a:off x="1524000" y="1122363"/>
            <a:ext cx="9144000" cy="1180890"/>
          </a:xfrm>
        </p:spPr>
        <p:txBody>
          <a:bodyPr/>
          <a:lstStyle/>
          <a:p>
            <a:r>
              <a:rPr lang="en-US" u="sng" dirty="0">
                <a:solidFill>
                  <a:srgbClr val="00B0F0"/>
                </a:solidFill>
              </a:rPr>
              <a:t>COMPANY SERVICES</a:t>
            </a:r>
          </a:p>
        </p:txBody>
      </p:sp>
      <p:sp>
        <p:nvSpPr>
          <p:cNvPr id="4" name="Rectangle 1">
            <a:extLst>
              <a:ext uri="{FF2B5EF4-FFF2-40B4-BE49-F238E27FC236}">
                <a16:creationId xmlns:a16="http://schemas.microsoft.com/office/drawing/2014/main" id="{84853619-172F-C1A4-23D7-065D40251555}"/>
              </a:ext>
            </a:extLst>
          </p:cNvPr>
          <p:cNvSpPr>
            <a:spLocks noGrp="1" noChangeArrowheads="1"/>
          </p:cNvSpPr>
          <p:nvPr>
            <p:ph type="subTitle" idx="1"/>
          </p:nvPr>
        </p:nvSpPr>
        <p:spPr bwMode="auto">
          <a:xfrm>
            <a:off x="2078966" y="2875648"/>
            <a:ext cx="9799608"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l" eaLnBrk="0" fontAlgn="base" hangingPunct="0">
              <a:lnSpc>
                <a:spcPct val="100000"/>
              </a:lnSpc>
              <a:spcBef>
                <a:spcPct val="0"/>
              </a:spcBef>
              <a:spcAft>
                <a:spcPct val="0"/>
              </a:spcAft>
            </a:pPr>
            <a:r>
              <a:rPr lang="en-US" sz="2800" dirty="0"/>
              <a:t>Here is the English version of your points written in a clear and professional way:</a:t>
            </a:r>
          </a:p>
          <a:p>
            <a:pPr lvl="0" algn="l" eaLnBrk="0" fontAlgn="base" hangingPunct="0">
              <a:lnSpc>
                <a:spcPct val="100000"/>
              </a:lnSpc>
              <a:spcBef>
                <a:spcPct val="0"/>
              </a:spcBef>
              <a:spcAft>
                <a:spcPct val="0"/>
              </a:spcAf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Cassava processing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Cassava flour production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Cassava starch products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Distribution of cassava product </a:t>
            </a:r>
          </a:p>
        </p:txBody>
      </p:sp>
    </p:spTree>
    <p:extLst>
      <p:ext uri="{BB962C8B-B14F-4D97-AF65-F5344CB8AC3E}">
        <p14:creationId xmlns:p14="http://schemas.microsoft.com/office/powerpoint/2010/main" val="2950051531"/>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4042C-94F0-C89F-E962-125472B1126D}"/>
              </a:ext>
            </a:extLst>
          </p:cNvPr>
          <p:cNvSpPr>
            <a:spLocks noGrp="1"/>
          </p:cNvSpPr>
          <p:nvPr>
            <p:ph type="ctrTitle"/>
          </p:nvPr>
        </p:nvSpPr>
        <p:spPr>
          <a:xfrm>
            <a:off x="1524000" y="1122363"/>
            <a:ext cx="9144000" cy="1238452"/>
          </a:xfrm>
        </p:spPr>
        <p:txBody>
          <a:bodyPr/>
          <a:lstStyle/>
          <a:p>
            <a:r>
              <a:rPr lang="en-US" u="sng" dirty="0">
                <a:solidFill>
                  <a:srgbClr val="00B0F0"/>
                </a:solidFill>
              </a:rPr>
              <a:t>WEBSITE REQUIREMENTS</a:t>
            </a:r>
          </a:p>
        </p:txBody>
      </p:sp>
      <p:sp>
        <p:nvSpPr>
          <p:cNvPr id="3" name="Subtitle 2">
            <a:extLst>
              <a:ext uri="{FF2B5EF4-FFF2-40B4-BE49-F238E27FC236}">
                <a16:creationId xmlns:a16="http://schemas.microsoft.com/office/drawing/2014/main" id="{4355C93E-52AF-ACBF-3685-3D7E639B129D}"/>
              </a:ext>
            </a:extLst>
          </p:cNvPr>
          <p:cNvSpPr>
            <a:spLocks noGrp="1"/>
          </p:cNvSpPr>
          <p:nvPr>
            <p:ph type="subTitle" idx="1"/>
          </p:nvPr>
        </p:nvSpPr>
        <p:spPr>
          <a:xfrm>
            <a:off x="1524000" y="3208713"/>
            <a:ext cx="9144000" cy="3350029"/>
          </a:xfrm>
        </p:spPr>
        <p:txBody>
          <a:bodyPr>
            <a:normAutofit fontScale="25000" lnSpcReduction="20000"/>
          </a:bodyPr>
          <a:lstStyle/>
          <a:p>
            <a:r>
              <a:rPr lang="en-US" sz="8000" b="1" dirty="0"/>
              <a:t>The website will include:</a:t>
            </a:r>
          </a:p>
          <a:p>
            <a:endParaRPr lang="en-US" sz="8000" dirty="0"/>
          </a:p>
          <a:p>
            <a:r>
              <a:rPr lang="en-US" sz="8000" dirty="0"/>
              <a:t>Information about IFU Ltd and its activities </a:t>
            </a:r>
          </a:p>
          <a:p>
            <a:r>
              <a:rPr lang="en-US" sz="8000" dirty="0"/>
              <a:t>A section showcasing cassava-based products </a:t>
            </a:r>
          </a:p>
          <a:p>
            <a:r>
              <a:rPr lang="en-US" sz="8000" dirty="0"/>
              <a:t>Contact information (phone, email, location) </a:t>
            </a:r>
          </a:p>
          <a:p>
            <a:r>
              <a:rPr lang="en-US" sz="8000" dirty="0"/>
              <a:t>A communication platform for customers (contact form or inquiry section) </a:t>
            </a:r>
          </a:p>
          <a:p>
            <a:r>
              <a:rPr lang="en-US" sz="8000" dirty="0"/>
              <a:t>News or updates about the company </a:t>
            </a:r>
          </a:p>
          <a:p>
            <a:r>
              <a:rPr lang="en-US" sz="8000" dirty="0"/>
              <a:t>A gallery of products and production process </a:t>
            </a:r>
          </a:p>
          <a:p>
            <a:r>
              <a:rPr lang="en-US" sz="8000" dirty="0"/>
              <a:t>Online visibility to reach international customers </a:t>
            </a:r>
          </a:p>
          <a:p>
            <a:endParaRPr lang="en-US" dirty="0"/>
          </a:p>
        </p:txBody>
      </p:sp>
    </p:spTree>
    <p:extLst>
      <p:ext uri="{BB962C8B-B14F-4D97-AF65-F5344CB8AC3E}">
        <p14:creationId xmlns:p14="http://schemas.microsoft.com/office/powerpoint/2010/main" val="3746324412"/>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4D22D-3C96-C3E8-48A9-70FA3FA502C3}"/>
              </a:ext>
            </a:extLst>
          </p:cNvPr>
          <p:cNvSpPr>
            <a:spLocks noGrp="1"/>
          </p:cNvSpPr>
          <p:nvPr>
            <p:ph type="ctrTitle"/>
          </p:nvPr>
        </p:nvSpPr>
        <p:spPr>
          <a:xfrm>
            <a:off x="1524000" y="806335"/>
            <a:ext cx="9144000" cy="1205345"/>
          </a:xfrm>
        </p:spPr>
        <p:txBody>
          <a:bodyPr/>
          <a:lstStyle/>
          <a:p>
            <a:r>
              <a:rPr lang="en-US" u="sng" dirty="0">
                <a:solidFill>
                  <a:srgbClr val="00B0F0"/>
                </a:solidFill>
              </a:rPr>
              <a:t>DESIGN TOOLS</a:t>
            </a:r>
          </a:p>
        </p:txBody>
      </p:sp>
      <p:sp>
        <p:nvSpPr>
          <p:cNvPr id="4" name="Rectangle 1">
            <a:extLst>
              <a:ext uri="{FF2B5EF4-FFF2-40B4-BE49-F238E27FC236}">
                <a16:creationId xmlns:a16="http://schemas.microsoft.com/office/drawing/2014/main" id="{AA97F422-ED89-7262-583D-EBBC577669B6}"/>
              </a:ext>
            </a:extLst>
          </p:cNvPr>
          <p:cNvSpPr>
            <a:spLocks noGrp="1" noChangeArrowheads="1"/>
          </p:cNvSpPr>
          <p:nvPr>
            <p:ph type="subTitle" idx="1"/>
          </p:nvPr>
        </p:nvSpPr>
        <p:spPr bwMode="auto">
          <a:xfrm>
            <a:off x="2768140" y="1951675"/>
            <a:ext cx="7825046"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lvl="0" algn="l" eaLnBrk="0" fontAlgn="base" hangingPunct="0">
              <a:lnSpc>
                <a:spcPct val="100000"/>
              </a:lnSpc>
              <a:spcBef>
                <a:spcPct val="0"/>
              </a:spcBef>
              <a:spcAft>
                <a:spcPct val="0"/>
              </a:spcAft>
              <a:buFontTx/>
              <a:buChar char="•"/>
            </a:pPr>
            <a:r>
              <a:rPr kumimoji="0" lang="en-US" altLang="en-US" sz="2800" b="0" i="0" u="none" strike="noStrike" cap="none" normalizeH="0" baseline="0" dirty="0">
                <a:ln>
                  <a:noFill/>
                </a:ln>
                <a:solidFill>
                  <a:schemeClr val="tx1"/>
                </a:solidFill>
                <a:effectLst/>
                <a:latin typeface="Arial" panose="020B0604020202020204" pitchFamily="34" charset="0"/>
              </a:rPr>
              <a:t>Canva (logo &amp; design) </a:t>
            </a:r>
          </a:p>
          <a:p>
            <a:pPr lvl="0" algn="l" eaLnBrk="0" fontAlgn="base" hangingPunct="0">
              <a:lnSpc>
                <a:spcPct val="100000"/>
              </a:lnSpc>
              <a:spcBef>
                <a:spcPct val="0"/>
              </a:spcBef>
              <a:spcAft>
                <a:spcPct val="0"/>
              </a:spcAft>
              <a:buFontTx/>
              <a:buChar char="•"/>
            </a:pPr>
            <a:r>
              <a:rPr kumimoji="0" lang="en-US" altLang="en-US" sz="2800" b="0" i="0" u="none" strike="noStrike" cap="none" normalizeH="0" baseline="0" dirty="0">
                <a:ln>
                  <a:noFill/>
                </a:ln>
                <a:solidFill>
                  <a:schemeClr val="tx1"/>
                </a:solidFill>
                <a:effectLst/>
                <a:latin typeface="Arial" panose="020B0604020202020204" pitchFamily="34" charset="0"/>
              </a:rPr>
              <a:t>Trello (project management) </a:t>
            </a:r>
          </a:p>
          <a:p>
            <a:pPr lvl="0" algn="l" eaLnBrk="0" fontAlgn="base" hangingPunct="0">
              <a:lnSpc>
                <a:spcPct val="100000"/>
              </a:lnSpc>
              <a:spcBef>
                <a:spcPct val="0"/>
              </a:spcBef>
              <a:spcAft>
                <a:spcPct val="0"/>
              </a:spcAft>
              <a:buFontTx/>
              <a:buChar char="•"/>
            </a:pPr>
            <a:r>
              <a:rPr kumimoji="0" lang="en-US" altLang="en-US" sz="2800" b="0" i="0" u="none" strike="noStrike" cap="none" normalizeH="0" baseline="0" dirty="0">
                <a:ln>
                  <a:noFill/>
                </a:ln>
                <a:solidFill>
                  <a:schemeClr val="tx1"/>
                </a:solidFill>
                <a:effectLst/>
                <a:latin typeface="Arial" panose="020B0604020202020204" pitchFamily="34" charset="0"/>
              </a:rPr>
              <a:t>Web browser (testing) </a:t>
            </a:r>
          </a:p>
          <a:p>
            <a:pPr lvl="0" algn="l" eaLnBrk="0" fontAlgn="base" hangingPunct="0">
              <a:lnSpc>
                <a:spcPct val="100000"/>
              </a:lnSpc>
              <a:spcBef>
                <a:spcPct val="0"/>
              </a:spcBef>
              <a:spcAft>
                <a:spcPct val="0"/>
              </a:spcAft>
              <a:buFontTx/>
              <a:buChar char="•"/>
            </a:pPr>
            <a:r>
              <a:rPr kumimoji="0" lang="en-US" altLang="en-US" sz="2800" b="0" i="0" u="none" strike="noStrike" cap="none" normalizeH="0" baseline="0" dirty="0">
                <a:ln>
                  <a:noFill/>
                </a:ln>
                <a:solidFill>
                  <a:schemeClr val="tx1"/>
                </a:solidFill>
                <a:effectLst/>
                <a:latin typeface="Arial" panose="020B0604020202020204" pitchFamily="34" charset="0"/>
              </a:rPr>
              <a:t>Internet connection </a:t>
            </a:r>
          </a:p>
          <a:p>
            <a:pPr marL="0" marR="0" lvl="0" indent="0" algn="l" defTabSz="914400" rtl="0" eaLnBrk="0" fontAlgn="base" latinLnBrk="0" hangingPunct="0">
              <a:lnSpc>
                <a:spcPct val="100000"/>
              </a:lnSpc>
              <a:spcBef>
                <a:spcPct val="0"/>
              </a:spcBef>
              <a:spcAft>
                <a:spcPct val="0"/>
              </a:spcAft>
              <a:buClrTx/>
              <a:buSzTx/>
              <a:tabLst/>
            </a:pPr>
            <a:r>
              <a:rPr lang="en-US" altLang="en-US" sz="5400" dirty="0">
                <a:latin typeface="Arial" panose="020B0604020202020204" pitchFamily="34" charset="0"/>
              </a:rPr>
              <a:t>.</a:t>
            </a:r>
            <a:r>
              <a:rPr lang="en-US" altLang="en-US" sz="2800" dirty="0" err="1">
                <a:latin typeface="Arial" panose="020B0604020202020204" pitchFamily="34" charset="0"/>
              </a:rPr>
              <a:t>HTML,CSS,javascript</a:t>
            </a:r>
            <a:endParaRPr lang="en-US" altLang="en-US" sz="2800" dirty="0">
              <a:latin typeface="Arial" panose="020B0604020202020204" pitchFamily="34" charset="0"/>
            </a:endParaRPr>
          </a:p>
          <a:p>
            <a:pPr lvl="0" algn="l" eaLnBrk="0" fontAlgn="base" hangingPunct="0">
              <a:lnSpc>
                <a:spcPct val="100000"/>
              </a:lnSpc>
              <a:spcBef>
                <a:spcPct val="0"/>
              </a:spcBef>
              <a:spcAft>
                <a:spcPct val="0"/>
              </a:spcAft>
            </a:pPr>
            <a:r>
              <a:rPr lang="en-US" sz="6000" dirty="0"/>
              <a:t>.</a:t>
            </a:r>
            <a:r>
              <a:rPr lang="en-US" sz="3200" dirty="0"/>
              <a:t>VS Code (coding tool)</a:t>
            </a:r>
            <a:endParaRPr lang="en-US" altLang="en-US" sz="3200" dirty="0">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tabLst/>
            </a:pPr>
            <a:endParaRPr lang="en-US" altLang="en-US" sz="2800" dirty="0">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91412128"/>
      </p:ext>
    </p:extLst>
  </p:cSld>
  <p:clrMapOvr>
    <a:masterClrMapping/>
  </p:clrMapOvr>
  <p:transition spd="slow">
    <p:comb/>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951A3-890D-9256-E29A-F80247A8D9DC}"/>
              </a:ext>
            </a:extLst>
          </p:cNvPr>
          <p:cNvSpPr>
            <a:spLocks noGrp="1"/>
          </p:cNvSpPr>
          <p:nvPr>
            <p:ph type="ctrTitle"/>
          </p:nvPr>
        </p:nvSpPr>
        <p:spPr>
          <a:xfrm>
            <a:off x="1524000" y="1122363"/>
            <a:ext cx="9144000" cy="1396393"/>
          </a:xfrm>
        </p:spPr>
        <p:txBody>
          <a:bodyPr/>
          <a:lstStyle/>
          <a:p>
            <a:r>
              <a:rPr lang="en-US" u="sng" dirty="0">
                <a:solidFill>
                  <a:srgbClr val="00B0F0"/>
                </a:solidFill>
              </a:rPr>
              <a:t>WEBSITE SITEMAP</a:t>
            </a:r>
          </a:p>
        </p:txBody>
      </p:sp>
      <p:sp>
        <p:nvSpPr>
          <p:cNvPr id="3" name="Subtitle 2">
            <a:extLst>
              <a:ext uri="{FF2B5EF4-FFF2-40B4-BE49-F238E27FC236}">
                <a16:creationId xmlns:a16="http://schemas.microsoft.com/office/drawing/2014/main" id="{D6B23734-8A63-BB97-239F-13468AEB7639}"/>
              </a:ext>
            </a:extLst>
          </p:cNvPr>
          <p:cNvSpPr>
            <a:spLocks noGrp="1"/>
          </p:cNvSpPr>
          <p:nvPr>
            <p:ph type="subTitle" idx="1"/>
          </p:nvPr>
        </p:nvSpPr>
        <p:spPr>
          <a:xfrm>
            <a:off x="1524000" y="3333404"/>
            <a:ext cx="9144000" cy="2842952"/>
          </a:xfrm>
        </p:spPr>
        <p:txBody>
          <a:bodyPr>
            <a:normAutofit/>
          </a:bodyPr>
          <a:lstStyle/>
          <a:p>
            <a:r>
              <a:rPr lang="en-US" dirty="0"/>
              <a:t>Home</a:t>
            </a:r>
            <a:br>
              <a:rPr lang="en-US" dirty="0"/>
            </a:br>
            <a:r>
              <a:rPr lang="en-US" dirty="0"/>
              <a:t>├── About Us</a:t>
            </a:r>
            <a:br>
              <a:rPr lang="en-US" dirty="0"/>
            </a:br>
            <a:r>
              <a:rPr lang="en-US" dirty="0"/>
              <a:t>├── Services</a:t>
            </a:r>
            <a:br>
              <a:rPr lang="en-US" dirty="0"/>
            </a:br>
            <a:r>
              <a:rPr lang="en-US" dirty="0"/>
              <a:t>├── Products</a:t>
            </a:r>
            <a:br>
              <a:rPr lang="en-US" dirty="0"/>
            </a:br>
            <a:r>
              <a:rPr lang="en-US" dirty="0"/>
              <a:t>├── Gallery</a:t>
            </a:r>
            <a:br>
              <a:rPr lang="en-US" dirty="0"/>
            </a:br>
            <a:r>
              <a:rPr lang="en-US" dirty="0"/>
              <a:t>├── Contact Us</a:t>
            </a:r>
            <a:br>
              <a:rPr lang="en-US" dirty="0"/>
            </a:br>
            <a:r>
              <a:rPr lang="en-US" dirty="0"/>
              <a:t>└── News</a:t>
            </a:r>
          </a:p>
        </p:txBody>
      </p:sp>
    </p:spTree>
    <p:extLst>
      <p:ext uri="{BB962C8B-B14F-4D97-AF65-F5344CB8AC3E}">
        <p14:creationId xmlns:p14="http://schemas.microsoft.com/office/powerpoint/2010/main" val="1325478492"/>
      </p:ext>
    </p:extLst>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0EE3E-B6A3-58B6-17D5-64BEB21D1B8B}"/>
              </a:ext>
            </a:extLst>
          </p:cNvPr>
          <p:cNvSpPr>
            <a:spLocks noGrp="1"/>
          </p:cNvSpPr>
          <p:nvPr>
            <p:ph type="ctrTitle"/>
          </p:nvPr>
        </p:nvSpPr>
        <p:spPr>
          <a:xfrm>
            <a:off x="1524000" y="1122363"/>
            <a:ext cx="9144000" cy="1171950"/>
          </a:xfrm>
        </p:spPr>
        <p:txBody>
          <a:bodyPr>
            <a:normAutofit/>
          </a:bodyPr>
          <a:lstStyle/>
          <a:p>
            <a:r>
              <a:rPr lang="en-US" u="sng" dirty="0">
                <a:solidFill>
                  <a:srgbClr val="00B0F0"/>
                </a:solidFill>
              </a:rPr>
              <a:t>TASK FLOW</a:t>
            </a:r>
          </a:p>
        </p:txBody>
      </p:sp>
      <p:sp>
        <p:nvSpPr>
          <p:cNvPr id="4" name="Rectangle 1">
            <a:extLst>
              <a:ext uri="{FF2B5EF4-FFF2-40B4-BE49-F238E27FC236}">
                <a16:creationId xmlns:a16="http://schemas.microsoft.com/office/drawing/2014/main" id="{FC4EA27D-D53B-BD58-A581-74502ECBE0C3}"/>
              </a:ext>
            </a:extLst>
          </p:cNvPr>
          <p:cNvSpPr>
            <a:spLocks noGrp="1" noChangeArrowheads="1"/>
          </p:cNvSpPr>
          <p:nvPr>
            <p:ph type="subTitle" idx="1"/>
          </p:nvPr>
        </p:nvSpPr>
        <p:spPr bwMode="auto">
          <a:xfrm>
            <a:off x="1524000" y="3306535"/>
            <a:ext cx="8858596"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Requirement gathering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Design mockup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Website coding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Testing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Deployment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Maintenance </a:t>
            </a:r>
          </a:p>
        </p:txBody>
      </p:sp>
    </p:spTree>
    <p:extLst>
      <p:ext uri="{BB962C8B-B14F-4D97-AF65-F5344CB8AC3E}">
        <p14:creationId xmlns:p14="http://schemas.microsoft.com/office/powerpoint/2010/main" val="1173231148"/>
      </p:ext>
    </p:extLst>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A2A1D-49F9-EA6B-8F3B-5AB1BB78412C}"/>
              </a:ext>
            </a:extLst>
          </p:cNvPr>
          <p:cNvSpPr>
            <a:spLocks noGrp="1"/>
          </p:cNvSpPr>
          <p:nvPr>
            <p:ph type="ctrTitle"/>
          </p:nvPr>
        </p:nvSpPr>
        <p:spPr>
          <a:xfrm>
            <a:off x="1524000" y="1122363"/>
            <a:ext cx="9144000" cy="1304953"/>
          </a:xfrm>
        </p:spPr>
        <p:txBody>
          <a:bodyPr/>
          <a:lstStyle/>
          <a:p>
            <a:r>
              <a:rPr lang="en-US" u="sng" dirty="0">
                <a:solidFill>
                  <a:srgbClr val="00B0F0"/>
                </a:solidFill>
              </a:rPr>
              <a:t>PROJECT BACKLOGS</a:t>
            </a:r>
          </a:p>
        </p:txBody>
      </p:sp>
      <p:sp>
        <p:nvSpPr>
          <p:cNvPr id="4" name="Rectangle 1">
            <a:extLst>
              <a:ext uri="{FF2B5EF4-FFF2-40B4-BE49-F238E27FC236}">
                <a16:creationId xmlns:a16="http://schemas.microsoft.com/office/drawing/2014/main" id="{A58D1EA9-7363-A02B-8277-C5EA9D8F2D1E}"/>
              </a:ext>
            </a:extLst>
          </p:cNvPr>
          <p:cNvSpPr>
            <a:spLocks noGrp="1" noChangeArrowheads="1"/>
          </p:cNvSpPr>
          <p:nvPr>
            <p:ph type="subTitle" idx="1"/>
          </p:nvPr>
        </p:nvSpPr>
        <p:spPr bwMode="auto">
          <a:xfrm>
            <a:off x="1524000" y="3552756"/>
            <a:ext cx="5793574"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Create homepage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Add product pages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Upload images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Create contact form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Improve UI design </a:t>
            </a:r>
          </a:p>
        </p:txBody>
      </p:sp>
    </p:spTree>
    <p:extLst>
      <p:ext uri="{BB962C8B-B14F-4D97-AF65-F5344CB8AC3E}">
        <p14:creationId xmlns:p14="http://schemas.microsoft.com/office/powerpoint/2010/main" val="2128397195"/>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20408-6474-2723-B052-CE85298E54EC}"/>
              </a:ext>
            </a:extLst>
          </p:cNvPr>
          <p:cNvSpPr>
            <a:spLocks noGrp="1"/>
          </p:cNvSpPr>
          <p:nvPr>
            <p:ph type="ctrTitle"/>
          </p:nvPr>
        </p:nvSpPr>
        <p:spPr>
          <a:xfrm>
            <a:off x="1524000" y="847898"/>
            <a:ext cx="9144000" cy="1837113"/>
          </a:xfrm>
        </p:spPr>
        <p:txBody>
          <a:bodyPr>
            <a:normAutofit/>
          </a:bodyPr>
          <a:lstStyle/>
          <a:p>
            <a:r>
              <a:rPr lang="en-US" b="1" dirty="0"/>
              <a:t> </a:t>
            </a:r>
            <a:r>
              <a:rPr lang="en-US" b="1" u="sng" dirty="0">
                <a:solidFill>
                  <a:srgbClr val="00B0F0"/>
                </a:solidFill>
              </a:rPr>
              <a:t>PROJECT TIME PLAN</a:t>
            </a:r>
            <a:br>
              <a:rPr lang="en-US" b="1" dirty="0"/>
            </a:br>
            <a:endParaRPr lang="en-US" dirty="0"/>
          </a:p>
        </p:txBody>
      </p:sp>
      <p:sp>
        <p:nvSpPr>
          <p:cNvPr id="3" name="Subtitle 2">
            <a:extLst>
              <a:ext uri="{FF2B5EF4-FFF2-40B4-BE49-F238E27FC236}">
                <a16:creationId xmlns:a16="http://schemas.microsoft.com/office/drawing/2014/main" id="{15F57446-9A7F-3D99-8421-0F9AB88DA3F9}"/>
              </a:ext>
            </a:extLst>
          </p:cNvPr>
          <p:cNvSpPr>
            <a:spLocks noGrp="1"/>
          </p:cNvSpPr>
          <p:nvPr>
            <p:ph type="subTitle" idx="1"/>
          </p:nvPr>
        </p:nvSpPr>
        <p:spPr>
          <a:xfrm>
            <a:off x="1524000" y="3084020"/>
            <a:ext cx="9144000" cy="3632663"/>
          </a:xfrm>
        </p:spPr>
        <p:txBody>
          <a:bodyPr>
            <a:normAutofit lnSpcReduction="10000"/>
          </a:bodyPr>
          <a:lstStyle/>
          <a:p>
            <a:r>
              <a:rPr lang="en-US" sz="6000" dirty="0"/>
              <a:t>Week 1: Analysis &amp; design </a:t>
            </a:r>
          </a:p>
          <a:p>
            <a:r>
              <a:rPr lang="en-US" sz="6000" dirty="0"/>
              <a:t>Week 2: Development </a:t>
            </a:r>
          </a:p>
          <a:p>
            <a:r>
              <a:rPr lang="en-US" sz="6000" dirty="0"/>
              <a:t>Week 3: Testing </a:t>
            </a:r>
          </a:p>
          <a:p>
            <a:r>
              <a:rPr lang="en-US" sz="6000" dirty="0"/>
              <a:t>Week 4: Deployment </a:t>
            </a:r>
          </a:p>
          <a:p>
            <a:endParaRPr lang="en-US" dirty="0"/>
          </a:p>
        </p:txBody>
      </p:sp>
    </p:spTree>
    <p:extLst>
      <p:ext uri="{BB962C8B-B14F-4D97-AF65-F5344CB8AC3E}">
        <p14:creationId xmlns:p14="http://schemas.microsoft.com/office/powerpoint/2010/main" val="154113956"/>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68C2B-8351-97B9-01CA-592BA73B2553}"/>
              </a:ext>
            </a:extLst>
          </p:cNvPr>
          <p:cNvSpPr>
            <a:spLocks noGrp="1"/>
          </p:cNvSpPr>
          <p:nvPr>
            <p:ph type="ctrTitle"/>
          </p:nvPr>
        </p:nvSpPr>
        <p:spPr>
          <a:xfrm>
            <a:off x="1524000" y="1005840"/>
            <a:ext cx="9144000" cy="1662545"/>
          </a:xfrm>
        </p:spPr>
        <p:txBody>
          <a:bodyPr>
            <a:normAutofit fontScale="90000"/>
          </a:bodyPr>
          <a:lstStyle/>
          <a:p>
            <a:r>
              <a:rPr lang="en-US" b="1" u="sng" dirty="0">
                <a:solidFill>
                  <a:srgbClr val="00B0F0"/>
                </a:solidFill>
              </a:rPr>
              <a:t>PROJECT COST ESTIMATION</a:t>
            </a:r>
            <a:br>
              <a:rPr lang="en-US" b="1" dirty="0"/>
            </a:br>
            <a:endParaRPr lang="en-US" dirty="0"/>
          </a:p>
        </p:txBody>
      </p:sp>
      <p:sp>
        <p:nvSpPr>
          <p:cNvPr id="3" name="Subtitle 2">
            <a:extLst>
              <a:ext uri="{FF2B5EF4-FFF2-40B4-BE49-F238E27FC236}">
                <a16:creationId xmlns:a16="http://schemas.microsoft.com/office/drawing/2014/main" id="{9D3029DE-4140-8D51-FFDE-87CDEE483604}"/>
              </a:ext>
            </a:extLst>
          </p:cNvPr>
          <p:cNvSpPr>
            <a:spLocks noGrp="1"/>
          </p:cNvSpPr>
          <p:nvPr>
            <p:ph type="subTitle" idx="1"/>
          </p:nvPr>
        </p:nvSpPr>
        <p:spPr>
          <a:xfrm>
            <a:off x="1524000" y="3325091"/>
            <a:ext cx="9144000" cy="2664547"/>
          </a:xfrm>
        </p:spPr>
        <p:txBody>
          <a:bodyPr>
            <a:normAutofit fontScale="32500" lnSpcReduction="20000"/>
          </a:bodyPr>
          <a:lstStyle/>
          <a:p>
            <a:endParaRPr lang="en-US" b="1" dirty="0"/>
          </a:p>
          <a:p>
            <a:r>
              <a:rPr lang="en-US" sz="9600" dirty="0"/>
              <a:t>Internet: 20,000 RWF </a:t>
            </a:r>
          </a:p>
          <a:p>
            <a:r>
              <a:rPr lang="en-US" sz="9600" dirty="0"/>
              <a:t>Hosting: 30,000 RWF </a:t>
            </a:r>
          </a:p>
          <a:p>
            <a:r>
              <a:rPr lang="en-US" sz="9600" dirty="0"/>
              <a:t>Tools &amp; design: 10,000 RWF </a:t>
            </a:r>
          </a:p>
          <a:p>
            <a:r>
              <a:rPr lang="en-US" sz="9600" dirty="0"/>
              <a:t>Transport: 15,000 RWF </a:t>
            </a:r>
          </a:p>
          <a:p>
            <a:r>
              <a:rPr lang="en-US" sz="9600" dirty="0"/>
              <a:t>👉 Total: 75,000 RWF</a:t>
            </a:r>
          </a:p>
          <a:p>
            <a:endParaRPr lang="en-US" dirty="0"/>
          </a:p>
        </p:txBody>
      </p:sp>
    </p:spTree>
    <p:extLst>
      <p:ext uri="{BB962C8B-B14F-4D97-AF65-F5344CB8AC3E}">
        <p14:creationId xmlns:p14="http://schemas.microsoft.com/office/powerpoint/2010/main" val="133310505"/>
      </p:ext>
    </p:extLst>
  </p:cSld>
  <p:clrMapOvr>
    <a:masterClrMapping/>
  </p:clrMapOvr>
  <p:transition spd="slow">
    <p:comb/>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9F820-EBAD-366E-3063-3427A7215EF6}"/>
              </a:ext>
            </a:extLst>
          </p:cNvPr>
          <p:cNvSpPr>
            <a:spLocks noGrp="1"/>
          </p:cNvSpPr>
          <p:nvPr>
            <p:ph type="ctrTitle"/>
          </p:nvPr>
        </p:nvSpPr>
        <p:spPr>
          <a:xfrm>
            <a:off x="1524000" y="1122363"/>
            <a:ext cx="9144000" cy="1113761"/>
          </a:xfrm>
        </p:spPr>
        <p:txBody>
          <a:bodyPr>
            <a:normAutofit fontScale="90000"/>
          </a:bodyPr>
          <a:lstStyle/>
          <a:p>
            <a:r>
              <a:rPr lang="en-US" u="sng" dirty="0">
                <a:solidFill>
                  <a:srgbClr val="00B0F0"/>
                </a:solidFill>
              </a:rPr>
              <a:t>IMPORTANCE OF THE PROJECT</a:t>
            </a:r>
          </a:p>
        </p:txBody>
      </p:sp>
      <p:sp>
        <p:nvSpPr>
          <p:cNvPr id="4" name="Rectangle 1">
            <a:extLst>
              <a:ext uri="{FF2B5EF4-FFF2-40B4-BE49-F238E27FC236}">
                <a16:creationId xmlns:a16="http://schemas.microsoft.com/office/drawing/2014/main" id="{E2A45956-89E5-BFDB-89DB-7FC6DC25CC91}"/>
              </a:ext>
            </a:extLst>
          </p:cNvPr>
          <p:cNvSpPr>
            <a:spLocks noGrp="1" noChangeArrowheads="1"/>
          </p:cNvSpPr>
          <p:nvPr>
            <p:ph type="subTitle" idx="1"/>
          </p:nvPr>
        </p:nvSpPr>
        <p:spPr bwMode="auto">
          <a:xfrm>
            <a:off x="1523999" y="3691255"/>
            <a:ext cx="8642465"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Promote IFU Ltd and increase its visibility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Attract and increase the number of customers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Enter the international market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Develop and grow the cassava business </a:t>
            </a:r>
          </a:p>
        </p:txBody>
      </p:sp>
    </p:spTree>
    <p:extLst>
      <p:ext uri="{BB962C8B-B14F-4D97-AF65-F5344CB8AC3E}">
        <p14:creationId xmlns:p14="http://schemas.microsoft.com/office/powerpoint/2010/main" val="81507996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3250">
        <p15:prstTrans prst="origami"/>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3AE46-83CE-1C0A-D55D-F0F96578D882}"/>
              </a:ext>
            </a:extLst>
          </p:cNvPr>
          <p:cNvSpPr>
            <a:spLocks noGrp="1"/>
          </p:cNvSpPr>
          <p:nvPr>
            <p:ph type="ctrTitle"/>
          </p:nvPr>
        </p:nvSpPr>
        <p:spPr>
          <a:xfrm>
            <a:off x="1524000" y="980902"/>
            <a:ext cx="9144000" cy="1886989"/>
          </a:xfrm>
        </p:spPr>
        <p:txBody>
          <a:bodyPr>
            <a:normAutofit fontScale="90000"/>
          </a:bodyPr>
          <a:lstStyle/>
          <a:p>
            <a:r>
              <a:rPr lang="en-US" b="1" dirty="0"/>
              <a:t> </a:t>
            </a:r>
            <a:r>
              <a:rPr lang="en-US" b="1" u="sng" dirty="0">
                <a:solidFill>
                  <a:srgbClr val="00B0F0"/>
                </a:solidFill>
              </a:rPr>
              <a:t>QUESTIONS &amp; ANSWERS (Q&amp;A)</a:t>
            </a:r>
            <a:br>
              <a:rPr lang="en-US" b="1" dirty="0"/>
            </a:br>
            <a:endParaRPr lang="en-US" dirty="0"/>
          </a:p>
        </p:txBody>
      </p:sp>
      <p:sp>
        <p:nvSpPr>
          <p:cNvPr id="3" name="Subtitle 2">
            <a:extLst>
              <a:ext uri="{FF2B5EF4-FFF2-40B4-BE49-F238E27FC236}">
                <a16:creationId xmlns:a16="http://schemas.microsoft.com/office/drawing/2014/main" id="{2C8DD300-2166-1412-A649-AE863762E4D2}"/>
              </a:ext>
            </a:extLst>
          </p:cNvPr>
          <p:cNvSpPr>
            <a:spLocks noGrp="1"/>
          </p:cNvSpPr>
          <p:nvPr>
            <p:ph type="subTitle" idx="1"/>
          </p:nvPr>
        </p:nvSpPr>
        <p:spPr>
          <a:xfrm>
            <a:off x="1524000" y="3200399"/>
            <a:ext cx="9144000" cy="3582785"/>
          </a:xfrm>
        </p:spPr>
        <p:txBody>
          <a:bodyPr>
            <a:normAutofit fontScale="25000" lnSpcReduction="20000"/>
          </a:bodyPr>
          <a:lstStyle/>
          <a:p>
            <a:r>
              <a:rPr lang="en-US" sz="9600" b="1" dirty="0"/>
              <a:t>Q1: Why does IFU Ltd need a website?</a:t>
            </a:r>
            <a:br>
              <a:rPr lang="en-US" sz="9600" dirty="0"/>
            </a:br>
            <a:r>
              <a:rPr lang="en-US" sz="9600" dirty="0"/>
              <a:t>➡️    To increase online presence and reach more customers</a:t>
            </a:r>
          </a:p>
          <a:p>
            <a:r>
              <a:rPr lang="en-US" sz="9600" b="1" dirty="0"/>
              <a:t>Q2: What products does IFU Ltd offer?</a:t>
            </a:r>
            <a:br>
              <a:rPr lang="en-US" sz="9600" dirty="0"/>
            </a:br>
            <a:r>
              <a:rPr lang="en-US" sz="9600" dirty="0"/>
              <a:t>➡️     Cassava flour, starch and other cassava products</a:t>
            </a:r>
          </a:p>
          <a:p>
            <a:r>
              <a:rPr lang="en-US" sz="9600" b="1" dirty="0"/>
              <a:t>Q3: Who benefits from this website?</a:t>
            </a:r>
            <a:br>
              <a:rPr lang="en-US" sz="9600" dirty="0"/>
            </a:br>
            <a:r>
              <a:rPr lang="en-US" sz="9600" dirty="0"/>
              <a:t>➡️    Company and customers globally</a:t>
            </a:r>
          </a:p>
          <a:p>
            <a:r>
              <a:rPr lang="en-US" sz="9600" b="1" dirty="0"/>
              <a:t>Q4: What tools will be used?</a:t>
            </a:r>
            <a:br>
              <a:rPr lang="en-US" sz="9600" dirty="0"/>
            </a:br>
            <a:r>
              <a:rPr lang="en-US" sz="9600" dirty="0"/>
              <a:t>➡️     HTML, CSS, JS, Canva, VS Code</a:t>
            </a:r>
          </a:p>
          <a:p>
            <a:r>
              <a:rPr lang="en-US" sz="9600" b="1" dirty="0"/>
              <a:t>Q5: What is the expected outcome?</a:t>
            </a:r>
            <a:br>
              <a:rPr lang="en-US" sz="9600" dirty="0"/>
            </a:br>
            <a:r>
              <a:rPr lang="en-US" sz="9600" dirty="0"/>
              <a:t>➡️ Better marketing and global visibility</a:t>
            </a:r>
          </a:p>
          <a:p>
            <a:endParaRPr lang="en-US" dirty="0"/>
          </a:p>
        </p:txBody>
      </p:sp>
    </p:spTree>
    <p:extLst>
      <p:ext uri="{BB962C8B-B14F-4D97-AF65-F5344CB8AC3E}">
        <p14:creationId xmlns:p14="http://schemas.microsoft.com/office/powerpoint/2010/main" val="267588341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airplan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8BF8A-B442-D576-F255-291BE6DD850B}"/>
              </a:ext>
            </a:extLst>
          </p:cNvPr>
          <p:cNvSpPr>
            <a:spLocks noGrp="1"/>
          </p:cNvSpPr>
          <p:nvPr>
            <p:ph type="ctrTitle"/>
          </p:nvPr>
        </p:nvSpPr>
        <p:spPr>
          <a:xfrm>
            <a:off x="1524000" y="673333"/>
            <a:ext cx="9144000" cy="1496290"/>
          </a:xfrm>
        </p:spPr>
        <p:txBody>
          <a:bodyPr/>
          <a:lstStyle/>
          <a:p>
            <a:r>
              <a:rPr lang="en-US" u="sng" dirty="0">
                <a:solidFill>
                  <a:srgbClr val="00B0F0"/>
                </a:solidFill>
              </a:rPr>
              <a:t>CONCLUSION</a:t>
            </a:r>
          </a:p>
        </p:txBody>
      </p:sp>
      <p:sp>
        <p:nvSpPr>
          <p:cNvPr id="3" name="Subtitle 2">
            <a:extLst>
              <a:ext uri="{FF2B5EF4-FFF2-40B4-BE49-F238E27FC236}">
                <a16:creationId xmlns:a16="http://schemas.microsoft.com/office/drawing/2014/main" id="{314147F8-79D8-545C-73DD-FEE4BF7BDC69}"/>
              </a:ext>
            </a:extLst>
          </p:cNvPr>
          <p:cNvSpPr>
            <a:spLocks noGrp="1"/>
          </p:cNvSpPr>
          <p:nvPr>
            <p:ph type="subTitle" idx="1"/>
          </p:nvPr>
        </p:nvSpPr>
        <p:spPr>
          <a:xfrm>
            <a:off x="1524000" y="3350029"/>
            <a:ext cx="9144000" cy="3084022"/>
          </a:xfrm>
        </p:spPr>
        <p:txBody>
          <a:bodyPr>
            <a:normAutofit fontScale="92500"/>
          </a:bodyPr>
          <a:lstStyle/>
          <a:p>
            <a:r>
              <a:rPr lang="en-US" dirty="0"/>
              <a:t>The website will help IFU Ltd to improve its online visibility and make the company easily accessible on the internet. It will also contribute to increasing the number of customers by providing clear and detailed information about cassava-based products and services.</a:t>
            </a:r>
          </a:p>
          <a:p>
            <a:r>
              <a:rPr lang="en-US" dirty="0"/>
              <a:t>In addition, the website will support the growth of the business by expanding its reach to an international market, allowing IFU Ltd to attract customers beyond the local area.</a:t>
            </a:r>
          </a:p>
          <a:p>
            <a:r>
              <a:rPr lang="en-US" dirty="0"/>
              <a:t>Finally, this project requires approval from the company management in order to proceed with the development and implementation of the website.</a:t>
            </a:r>
          </a:p>
          <a:p>
            <a:endParaRPr lang="en-US" dirty="0"/>
          </a:p>
        </p:txBody>
      </p:sp>
    </p:spTree>
    <p:extLst>
      <p:ext uri="{BB962C8B-B14F-4D97-AF65-F5344CB8AC3E}">
        <p14:creationId xmlns:p14="http://schemas.microsoft.com/office/powerpoint/2010/main" val="380671227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41F21-2F6C-3936-42ED-88728D747AD7}"/>
              </a:ext>
            </a:extLst>
          </p:cNvPr>
          <p:cNvSpPr>
            <a:spLocks noGrp="1"/>
          </p:cNvSpPr>
          <p:nvPr>
            <p:ph type="ctrTitle"/>
          </p:nvPr>
        </p:nvSpPr>
        <p:spPr/>
        <p:txBody>
          <a:bodyPr/>
          <a:lstStyle/>
          <a:p>
            <a:r>
              <a:rPr lang="en-US" b="1" dirty="0"/>
              <a:t> </a:t>
            </a:r>
            <a:r>
              <a:rPr lang="en-US" b="1" u="sng" dirty="0">
                <a:solidFill>
                  <a:srgbClr val="00B0F0"/>
                </a:solidFill>
              </a:rPr>
              <a:t>THANK YOU</a:t>
            </a:r>
            <a:br>
              <a:rPr lang="en-US" b="1" dirty="0"/>
            </a:br>
            <a:endParaRPr lang="en-US" dirty="0"/>
          </a:p>
        </p:txBody>
      </p:sp>
      <p:sp>
        <p:nvSpPr>
          <p:cNvPr id="3" name="Subtitle 2">
            <a:extLst>
              <a:ext uri="{FF2B5EF4-FFF2-40B4-BE49-F238E27FC236}">
                <a16:creationId xmlns:a16="http://schemas.microsoft.com/office/drawing/2014/main" id="{E59E8772-2358-0D19-7B76-C8C766B10598}"/>
              </a:ext>
            </a:extLst>
          </p:cNvPr>
          <p:cNvSpPr>
            <a:spLocks noGrp="1"/>
          </p:cNvSpPr>
          <p:nvPr>
            <p:ph type="subTitle" idx="1"/>
          </p:nvPr>
        </p:nvSpPr>
        <p:spPr/>
        <p:txBody>
          <a:bodyPr>
            <a:normAutofit fontScale="85000" lnSpcReduction="20000"/>
          </a:bodyPr>
          <a:lstStyle/>
          <a:p>
            <a:endParaRPr lang="en-US" b="1" dirty="0"/>
          </a:p>
          <a:p>
            <a:r>
              <a:rPr lang="en-US" sz="3400" b="1" dirty="0"/>
              <a:t>Thank you for your attention</a:t>
            </a:r>
            <a:br>
              <a:rPr lang="en-US" dirty="0"/>
            </a:br>
            <a:endParaRPr lang="en-US" dirty="0"/>
          </a:p>
          <a:p>
            <a:br>
              <a:rPr lang="en-US" dirty="0"/>
            </a:br>
            <a:endParaRPr lang="en-US" b="1" dirty="0"/>
          </a:p>
          <a:p>
            <a:endParaRPr lang="en-US" dirty="0"/>
          </a:p>
        </p:txBody>
      </p:sp>
    </p:spTree>
    <p:extLst>
      <p:ext uri="{BB962C8B-B14F-4D97-AF65-F5344CB8AC3E}">
        <p14:creationId xmlns:p14="http://schemas.microsoft.com/office/powerpoint/2010/main" val="146094043"/>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TotalTime>
  <Words>694</Words>
  <Application>Microsoft Office PowerPoint</Application>
  <PresentationFormat>Widescreen</PresentationFormat>
  <Paragraphs>106</Paragraphs>
  <Slides>16</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16</vt:i4>
      </vt:variant>
    </vt:vector>
  </HeadingPairs>
  <TitlesOfParts>
    <vt:vector size="26" baseType="lpstr">
      <vt:lpstr>Arial</vt:lpstr>
      <vt:lpstr>Bahnschrift Light Condensed</vt:lpstr>
      <vt:lpstr>Bahnschrift Light SemiCondensed</vt:lpstr>
      <vt:lpstr>Bahnschrift SemiBold Condensed</vt:lpstr>
      <vt:lpstr>Bahnschrift SemiLight Condensed</vt:lpstr>
      <vt:lpstr>Bauhaus 93</vt:lpstr>
      <vt:lpstr>Britannic Bold</vt:lpstr>
      <vt:lpstr>Calibri</vt:lpstr>
      <vt:lpstr>Calibri Light</vt:lpstr>
      <vt:lpstr>Office Theme</vt:lpstr>
      <vt:lpstr> PROJECT REQUIREMENT PROPOSAL   WEBSITE DEVELOPMENT PROJECT FOR  IFU LTD        </vt:lpstr>
      <vt:lpstr>INTRODUCTION</vt:lpstr>
      <vt:lpstr>PROBLEM STATEMENT </vt:lpstr>
      <vt:lpstr>PROJECT OBJECTIVES</vt:lpstr>
      <vt:lpstr>COMPANY SERVICES</vt:lpstr>
      <vt:lpstr>WEBSITE REQUIREMENTS</vt:lpstr>
      <vt:lpstr>DESIGN TOOLS</vt:lpstr>
      <vt:lpstr>WEBSITE SITEMAP</vt:lpstr>
      <vt:lpstr>TASK FLOW</vt:lpstr>
      <vt:lpstr>PROJECT BACKLOGS</vt:lpstr>
      <vt:lpstr> PROJECT TIME PLAN </vt:lpstr>
      <vt:lpstr>PROJECT COST ESTIMATION </vt:lpstr>
      <vt:lpstr>IMPORTANCE OF THE PROJECT</vt:lpstr>
      <vt:lpstr> QUESTIONS &amp; ANSWERS (Q&amp;A) </vt:lpstr>
      <vt:lpstr>CONCLUSION</vt:lpstr>
      <vt:lpstr> 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USER</cp:lastModifiedBy>
  <cp:revision>1</cp:revision>
  <dcterms:created xsi:type="dcterms:W3CDTF">2026-06-02T12:41:48Z</dcterms:created>
  <dcterms:modified xsi:type="dcterms:W3CDTF">2026-06-02T14:01:25Z</dcterms:modified>
</cp:coreProperties>
</file>